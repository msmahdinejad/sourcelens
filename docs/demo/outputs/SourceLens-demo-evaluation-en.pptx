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Charge While You Shop public demo</a:t>
            </a:r>
          </a:p>
          <a:p>
            <a:r>
              <a:t>docs/demo/README.md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docs/demo/source-research.md</a:t>
            </a:r>
          </a:p>
          <a:p>
            <a:r>
              <a:t>https://www.mdpi.com/1996-1073/14/15/4598</a:t>
            </a:r>
          </a:p>
          <a:p>
            <a:r>
              <a:t>https://publications.jrc.ec.europa.eu/repository/handle/JRC133895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docs/demo/assets/04-web-search-en.png</a:t>
            </a:r>
          </a:p>
          <a:p>
            <a:r>
              <a:t>docs/demo/source-research.md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docs/demo/outputs/en/index.json</a:t>
            </a:r>
          </a:p>
          <a:p>
            <a:r>
              <a:t>docs/demo/outputs/fa/index.json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https://github.com/msmahdinejad/SourceLens/raw/main/docs/demo/outputs/en/charge-while-you-shop-slide-deck.pptx</a:t>
            </a:r>
          </a:p>
          <a:p>
            <a:r>
              <a:t>https://github.com/msmahdinejad/SourceLens/raw/main/docs/demo/outputs/en/charge-while-you-shop-video-overview.mp4</a:t>
            </a:r>
          </a:p>
          <a:p>
            <a:r>
              <a:t>https://www.pexels.com/license/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scripts/validate_public_demo.py</a:t>
            </a:r>
          </a:p>
          <a:p>
            <a:r>
              <a:t>docs/retrieval-benchmark.md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docs/demo/outputs/en/charge-while-you-shop-audio-overview.mp3</a:t>
            </a:r>
          </a:p>
          <a:p>
            <a:r>
              <a:t>docs/demo/outputs/en/charge-while-you-shop-audio-overview-transcript.txt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SourceLens final demo run, 2026-08-09</a:t>
            </a:r>
          </a:p>
          <a:p>
            <a:r>
              <a:t>docs/demo/README.md</a:t>
            </a:r>
          </a:p>
          <a:p>
            <a:r>
              <a:t>docs/demo/README.fa.md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hyperlink" Target="https://github.com/msmahdinejad/SourceLens/raw/main/docs/demo/outputs/en/charge-while-you-shop-video-overview.mp4" TargetMode="External"/><Relationship Id="rId3" Type="http://schemas.openxmlformats.org/officeDocument/2006/relationships/hyperlink" Target="https://github.com/msmahdinejad/SourceLens/raw/main/docs/demo/outputs/en/charge-while-you-shop-slide-deck.pptx" TargetMode="External"/><Relationship Id="rId2" Type="http://schemas.openxmlformats.org/officeDocument/2006/relationships/image" Target="../media/image1.jpeg"/><Relationship Id="rId1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msmahdinejad/SourceLe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rcRect l="27344" r="27344"/>
          <a:stretch>
            <a:fillRect/>
          </a:stretch>
        </p:blipFill>
        <p:spPr>
          <a:xfrm>
            <a:off x="0" y="0"/>
            <a:ext cx="5524500" cy="6858000"/>
          </a:xfrm>
          <a:prstGeom prst="roundRect">
            <a:avLst>
              <a:gd name="adj" fmla="val 2069"/>
            </a:avLst>
          </a:prstGeom>
        </p:spPr>
      </p:pic>
      <p:sp>
        <p:nvSpPr>
          <p:cNvPr id="2" name="Rectangle 1"/>
          <p:cNvSpPr>
            <a:spLocks noGrp="1"/>
          </p:cNvSpPr>
          <p:nvPr/>
        </p:nvSpPr>
        <p:spPr>
          <a:xfrm>
            <a:off x="5524500" y="0"/>
            <a:ext cx="6667500" cy="6858000"/>
          </a:xfrm>
          <a:prstGeom prst="rect">
            <a:avLst/>
          </a:prstGeom>
          <a:solidFill>
            <a:srgbClr val="071A24"/>
          </a:solidFill>
          <a:ln w="0">
            <a:noFill/>
            <a:prstDash val="solid"/>
          </a:ln>
        </p:spPr>
      </p:sp>
      <p:sp>
        <p:nvSpPr>
          <p:cNvPr id="3" name="Rectangle 2"/>
          <p:cNvSpPr>
            <a:spLocks noGrp="1"/>
          </p:cNvSpPr>
          <p:nvPr/>
        </p:nvSpPr>
        <p:spPr>
          <a:xfrm>
            <a:off x="5962650" y="876300"/>
            <a:ext cx="152400" cy="104775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4" name="Rectangle 3"/>
          <p:cNvSpPr>
            <a:spLocks noGrp="1"/>
          </p:cNvSpPr>
          <p:nvPr/>
        </p:nvSpPr>
        <p:spPr>
          <a:xfrm>
            <a:off x="6096000" y="1676400"/>
            <a:ext cx="523875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SourceLens — Final System Evaluation</a:t>
            </a:r>
            <a:endParaRPr sz="36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6096000" y="3371850"/>
            <a:ext cx="5238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>
                <a:solidFill>
                  <a:srgbClr val="F4EE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4EEE2"/>
                </a:solidFill>
                <a:latin typeface="Aptos"/>
                <a:ea typeface="Aptos"/>
                <a:cs typeface="Aptos"/>
              </a:rPr>
              <a:t>A real bilingual run—from trusted sources to 26 useful outputs</a:t>
            </a:r>
            <a:endParaRPr sz="1650" b="0">
              <a:solidFill>
                <a:srgbClr val="F4EEE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6096000" y="53340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ED3B7"/>
                </a:solidFill>
                <a:latin typeface="Aptos"/>
                <a:ea typeface="Aptos"/>
                <a:cs typeface="Aptos"/>
              </a:rPr>
              <a:t>Charge While You Shop · 9 August 2026</a:t>
            </a:r>
            <a:endParaRPr sz="1200" b="0">
              <a:solidFill>
                <a:srgbClr val="2ED3B7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Seven sources. One transparent evidence boundary.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02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1"/>
          <a:srcRect l="6828" r="6828"/>
          <a:stretch>
            <a:fillRect/>
          </a:stretch>
        </p:blipFill>
        <p:spPr>
          <a:xfrm>
            <a:off x="685800" y="1600200"/>
            <a:ext cx="6286500" cy="4095750"/>
          </a:xfrm>
          <a:prstGeom prst="roundRect">
            <a:avLst>
              <a:gd name="adj" fmla="val 2791"/>
            </a:avLst>
          </a:prstGeom>
        </p:spPr>
      </p:pic>
      <p:sp>
        <p:nvSpPr>
          <p:cNvPr id="7" name="Rounded Rectangle 6"/>
          <p:cNvSpPr>
            <a:spLocks noGrp="1"/>
          </p:cNvSpPr>
          <p:nvPr/>
        </p:nvSpPr>
        <p:spPr>
          <a:xfrm>
            <a:off x="7334250" y="1600200"/>
            <a:ext cx="18669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7505700" y="1733550"/>
            <a:ext cx="152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7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505700" y="2228850"/>
            <a:ext cx="152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ready sources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9429750" y="1600200"/>
            <a:ext cx="207645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9601200" y="1733550"/>
            <a:ext cx="1733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236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9601200" y="22288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indexed chunks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334250" y="3143250"/>
            <a:ext cx="41719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71A24"/>
                </a:solidFill>
                <a:latin typeface="Aptos"/>
                <a:ea typeface="Aptos"/>
                <a:cs typeface="Aptos"/>
              </a:rPr>
              <a:t>Two CC BY 4.0 papers and five official web sources were added through the same Upload and Search flows available in the app.</a:t>
            </a:r>
            <a:endParaRPr sz="1575" b="0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7334250" y="5010150"/>
            <a:ext cx="4171950" cy="685800"/>
          </a:xfrm>
          <a:prstGeom prst="roundRect">
            <a:avLst>
              <a:gd name="adj" fmla="val 16667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7562850" y="5124450"/>
            <a:ext cx="3714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 open papers + 5 official web sources</a:t>
            </a:r>
            <a:endParaRPr sz="1425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ectangle 9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Search becomes a reusable research source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03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66888"/>
            <a:ext cx="6858000" cy="3857625"/>
          </a:xfrm>
          <a:prstGeom prst="roundRect">
            <a:avLst>
              <a:gd name="adj" fmla="val 2703"/>
            </a:avLst>
          </a:prstGeom>
        </p:spPr>
      </p:pic>
      <p:sp>
        <p:nvSpPr>
          <p:cNvPr id="7" name="Rounded Rectangle 6"/>
          <p:cNvSpPr>
            <a:spLocks noGrp="1"/>
          </p:cNvSpPr>
          <p:nvPr/>
        </p:nvSpPr>
        <p:spPr>
          <a:xfrm>
            <a:off x="7924800" y="1676400"/>
            <a:ext cx="3581400" cy="3124200"/>
          </a:xfrm>
          <a:prstGeom prst="roundRect">
            <a:avLst>
              <a:gd name="adj" fmla="val 3659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8" name="Rectangle 7"/>
          <p:cNvSpPr>
            <a:spLocks noGrp="1"/>
          </p:cNvSpPr>
          <p:nvPr/>
        </p:nvSpPr>
        <p:spPr>
          <a:xfrm>
            <a:off x="8210550" y="1981200"/>
            <a:ext cx="3009900" cy="2343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app searched the web, let the user select results, extracted the pages, and indexed them beside the uploaded papers.</a:t>
            </a:r>
            <a:endParaRPr sz="1575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924800" y="5067300"/>
            <a:ext cx="3581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Search · select · extract · index</a:t>
            </a:r>
            <a:endParaRPr sz="120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Studio turns one corpus into many useful forms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04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"/>
          <a:srcRect l="4620" r="4620"/>
          <a:stretch>
            <a:fillRect/>
          </a:stretch>
        </p:blipFill>
        <p:spPr>
          <a:xfrm>
            <a:off x="685800" y="1619250"/>
            <a:ext cx="5010150" cy="3105150"/>
          </a:xfrm>
          <a:prstGeom prst="roundRect">
            <a:avLst>
              <a:gd name="adj" fmla="val 3681"/>
            </a:avLst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rcRect l="134" r="134"/>
          <a:stretch>
            <a:fillRect/>
          </a:stretch>
        </p:blipFill>
        <p:spPr>
          <a:xfrm>
            <a:off x="6000750" y="1619250"/>
            <a:ext cx="5505450" cy="3105150"/>
          </a:xfrm>
          <a:prstGeom prst="roundRect">
            <a:avLst>
              <a:gd name="adj" fmla="val 3681"/>
            </a:avLst>
          </a:prstGeom>
        </p:spPr>
      </p:pic>
      <p:sp>
        <p:nvSpPr>
          <p:cNvPr id="8" name="Rectangle 7"/>
          <p:cNvSpPr>
            <a:spLocks noGrp="1"/>
          </p:cNvSpPr>
          <p:nvPr/>
        </p:nvSpPr>
        <p:spPr>
          <a:xfrm>
            <a:off x="685800" y="4972050"/>
            <a:ext cx="10820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71A24"/>
                </a:solidFill>
                <a:latin typeface="Aptos"/>
                <a:ea typeface="Aptos"/>
                <a:cs typeface="Aptos"/>
              </a:rPr>
              <a:t>The same 236 chunks produced all 13 Studio formats in English and Persian—26 app-generated artifacts in total.</a:t>
            </a:r>
            <a:endParaRPr sz="1500" b="0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ectangle 11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Editable slides and cinematic video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05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1"/>
          <a:srcRect l="11188" r="11188"/>
          <a:stretch>
            <a:fillRect/>
          </a:stretch>
        </p:blipFill>
        <p:spPr>
          <a:xfrm>
            <a:off x="685800" y="1600200"/>
            <a:ext cx="5257800" cy="3810000"/>
          </a:xfrm>
          <a:prstGeom prst="roundRect">
            <a:avLst>
              <a:gd name="adj" fmla="val 3000"/>
            </a:avLst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rcRect l="11188" r="11188"/>
          <a:stretch>
            <a:fillRect/>
          </a:stretch>
        </p:blipFill>
        <p:spPr>
          <a:xfrm>
            <a:off x="6248400" y="1600200"/>
            <a:ext cx="5257800" cy="381000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Rectangle 7"/>
          <p:cNvSpPr>
            <a:spLocks noGrp="1"/>
          </p:cNvSpPr>
          <p:nvPr/>
        </p:nvSpPr>
        <p:spPr>
          <a:xfrm>
            <a:off x="876300" y="5562600"/>
            <a:ext cx="487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8-slide editable PowerPoint</a:t>
            </a:r>
            <a:endParaRPr sz="13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6438900" y="5562600"/>
            <a:ext cx="487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Exact 60-second Full HD video</a:t>
            </a:r>
            <a:endParaRPr sz="13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 9">
            <a:hlinkClick r:id="rId3" action="ppaction://hlinkfile"/>
          </p:cNvPr>
          <p:cNvSpPr>
            <a:spLocks noGrp="1"/>
          </p:cNvSpPr>
          <p:nvPr/>
        </p:nvSpPr>
        <p:spPr>
          <a:xfrm>
            <a:off x="685800" y="6000750"/>
            <a:ext cx="525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675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0747A"/>
                </a:solidFill>
                <a:latin typeface="Aptos"/>
                <a:ea typeface="Aptos"/>
                <a:cs typeface="Aptos"/>
                <a:hlinkClick r:id="rId3" action="ppaction://hlinkfile"/>
              </a:rPr>
              <a:t>https://github.com/msmahdinejad/SourceLens/raw/main/docs/demo/outputs/en/charge-while-you-shop-slide-deck.pptx</a:t>
            </a:r>
            <a:endParaRPr sz="675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 10">
            <a:hlinkClick r:id="rId4" action="ppaction://hlinkfile"/>
          </p:cNvPr>
          <p:cNvSpPr>
            <a:spLocks noGrp="1"/>
          </p:cNvSpPr>
          <p:nvPr/>
        </p:nvSpPr>
        <p:spPr>
          <a:xfrm>
            <a:off x="6248400" y="6000750"/>
            <a:ext cx="5257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675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0747A"/>
                </a:solidFill>
                <a:latin typeface="Aptos"/>
                <a:ea typeface="Aptos"/>
                <a:cs typeface="Aptos"/>
                <a:hlinkClick r:id="rId4" action="ppaction://hlinkfile"/>
              </a:rPr>
              <a:t>https://github.com/msmahdinejad/SourceLens/raw/main/docs/demo/outputs/en/charge-while-you-shop-video-overview.mp4</a:t>
            </a:r>
            <a:endParaRPr sz="675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Quality gates passed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06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ounded Rectangle 5"/>
          <p:cNvSpPr>
            <a:spLocks noGrp="1"/>
          </p:cNvSpPr>
          <p:nvPr/>
        </p:nvSpPr>
        <p:spPr>
          <a:xfrm>
            <a:off x="6858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7" name="Rectangle 6"/>
          <p:cNvSpPr>
            <a:spLocks noGrp="1"/>
          </p:cNvSpPr>
          <p:nvPr/>
        </p:nvSpPr>
        <p:spPr>
          <a:xfrm>
            <a:off x="8572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26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8572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ready artifacts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33909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35623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60 s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35623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each video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6096000" y="1676400"/>
            <a:ext cx="2476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6267450" y="1809750"/>
            <a:ext cx="2133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Full HD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6267450" y="230505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video resolution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8801100" y="1676400"/>
            <a:ext cx="27051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3E2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8972550" y="1809750"/>
            <a:ext cx="2362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550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40/40</a:t>
            </a:r>
            <a:endParaRPr sz="2550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8972550" y="2305050"/>
            <a:ext cx="236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47A"/>
                </a:solidFill>
                <a:latin typeface="Aptos"/>
                <a:ea typeface="Aptos"/>
                <a:cs typeface="Aptos"/>
              </a:rPr>
              <a:t>UI + renderer tests</a:t>
            </a:r>
            <a:endParaRPr sz="1200" b="0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685800" y="3238500"/>
            <a:ext cx="10820400" cy="2247900"/>
          </a:xfrm>
          <a:prstGeom prst="roundRect">
            <a:avLst>
              <a:gd name="adj" fmla="val 5085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19" name="Rectangle 18"/>
          <p:cNvSpPr>
            <a:spLocks noGrp="1"/>
          </p:cNvSpPr>
          <p:nvPr/>
        </p:nvSpPr>
        <p:spPr>
          <a:xfrm>
            <a:off x="1047750" y="3524250"/>
            <a:ext cx="1009650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7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full Python suite passed</a:t>
            </a:r>
            <a:endParaRPr sz="1725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l">
              <a:defRPr sz="17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Node tests, JavaScript syntax, and license audits are green</a:t>
            </a:r>
            <a:endParaRPr sz="1725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l">
              <a:defRPr sz="17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Videos: natural-speed audio, H.264 + AAC, captions, and clean timelines</a:t>
            </a:r>
            <a:endParaRPr sz="1725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 24"/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685800" y="323850"/>
            <a:ext cx="1885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0E75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56F"/>
                </a:solidFill>
                <a:latin typeface="Aptos"/>
                <a:ea typeface="Aptos"/>
                <a:cs typeface="Aptos"/>
              </a:rPr>
              <a:t>SOURCELENS</a:t>
            </a:r>
            <a:endParaRPr sz="975" b="1">
              <a:solidFill>
                <a:srgbClr val="0E756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685800" y="6477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700" b="1">
                <a:solidFill>
                  <a:srgbClr val="071A2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71A24"/>
                </a:solidFill>
                <a:latin typeface="Aptos"/>
                <a:ea typeface="Aptos"/>
                <a:cs typeface="Aptos"/>
              </a:rPr>
              <a:t>Natural bilingual audio, generated locally</a:t>
            </a:r>
            <a:endParaRPr sz="2700" b="1">
              <a:solidFill>
                <a:srgbClr val="071A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85800" y="1257300"/>
            <a:ext cx="685800" cy="47625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0858500" y="6305550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00" b="1">
                <a:solidFill>
                  <a:srgbClr val="6074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47A"/>
                </a:solidFill>
                <a:latin typeface="Aptos"/>
                <a:ea typeface="Aptos"/>
                <a:cs typeface="Aptos"/>
              </a:rPr>
              <a:t>07</a:t>
            </a:r>
            <a:endParaRPr sz="900" b="1">
              <a:solidFill>
                <a:srgbClr val="60747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ounded Rectangle 5"/>
          <p:cNvSpPr>
            <a:spLocks noGrp="1"/>
          </p:cNvSpPr>
          <p:nvPr/>
        </p:nvSpPr>
        <p:spPr>
          <a:xfrm>
            <a:off x="685800" y="1600200"/>
            <a:ext cx="4953000" cy="3733800"/>
          </a:xfrm>
          <a:prstGeom prst="roundRect">
            <a:avLst>
              <a:gd name="adj" fmla="val 3061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7" name="Rounded Rectangle 6"/>
          <p:cNvSpPr>
            <a:spLocks noGrp="1"/>
          </p:cNvSpPr>
          <p:nvPr/>
        </p:nvSpPr>
        <p:spPr>
          <a:xfrm>
            <a:off x="1066800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1362075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1657350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1952625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1" name="Rounded Rectangle 10"/>
          <p:cNvSpPr>
            <a:spLocks noGrp="1"/>
          </p:cNvSpPr>
          <p:nvPr/>
        </p:nvSpPr>
        <p:spPr>
          <a:xfrm>
            <a:off x="2247900" y="2781300"/>
            <a:ext cx="114300" cy="12954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2543175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3" name="Rounded Rectangle 12"/>
          <p:cNvSpPr>
            <a:spLocks noGrp="1"/>
          </p:cNvSpPr>
          <p:nvPr/>
        </p:nvSpPr>
        <p:spPr>
          <a:xfrm>
            <a:off x="2838450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3133725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3429000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3724275" y="2781300"/>
            <a:ext cx="114300" cy="129540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7" name="Rounded Rectangle 16"/>
          <p:cNvSpPr>
            <a:spLocks noGrp="1"/>
          </p:cNvSpPr>
          <p:nvPr/>
        </p:nvSpPr>
        <p:spPr>
          <a:xfrm>
            <a:off x="4019550" y="3238500"/>
            <a:ext cx="114300" cy="4572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4314825" y="3124200"/>
            <a:ext cx="114300" cy="6667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4610100" y="3009900"/>
            <a:ext cx="114300" cy="876300"/>
          </a:xfrm>
          <a:prstGeom prst="roundRect">
            <a:avLst>
              <a:gd name="adj" fmla="val 50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20" name="Rounded Rectangle 19"/>
          <p:cNvSpPr>
            <a:spLocks noGrp="1"/>
          </p:cNvSpPr>
          <p:nvPr/>
        </p:nvSpPr>
        <p:spPr>
          <a:xfrm>
            <a:off x="4905375" y="2895600"/>
            <a:ext cx="114300" cy="1085850"/>
          </a:xfrm>
          <a:prstGeom prst="roundRect">
            <a:avLst>
              <a:gd name="adj" fmla="val 50000"/>
            </a:avLst>
          </a:prstGeom>
          <a:solidFill>
            <a:srgbClr val="2ED3B7"/>
          </a:solidFill>
          <a:ln w="0">
            <a:noFill/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1066800" y="1809750"/>
            <a:ext cx="40957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 dialogue turns</a:t>
            </a:r>
            <a:endParaRPr sz="1575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Natural-speed audio</a:t>
            </a:r>
            <a:endParaRPr sz="1575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Downloadable transcript</a:t>
            </a:r>
            <a:endParaRPr sz="1575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Rounded Rectangle 21"/>
          <p:cNvSpPr>
            <a:spLocks noGrp="1"/>
          </p:cNvSpPr>
          <p:nvPr/>
        </p:nvSpPr>
        <p:spPr>
          <a:xfrm>
            <a:off x="5962650" y="1600200"/>
            <a:ext cx="5543550" cy="3733800"/>
          </a:xfrm>
          <a:prstGeom prst="roundRect">
            <a:avLst>
              <a:gd name="adj" fmla="val 3061"/>
            </a:avLst>
          </a:prstGeom>
          <a:solidFill>
            <a:srgbClr val="0B2D36"/>
          </a:solidFill>
          <a:ln w="0">
            <a:noFill/>
            <a:prstDash val="solid"/>
          </a:ln>
        </p:spPr>
      </p:sp>
      <p:sp>
        <p:nvSpPr>
          <p:cNvPr id="23" name="Rectangle 22"/>
          <p:cNvSpPr>
            <a:spLocks noGrp="1"/>
          </p:cNvSpPr>
          <p:nvPr/>
        </p:nvSpPr>
        <p:spPr>
          <a:xfrm>
            <a:off x="6286500" y="1847850"/>
            <a:ext cx="48958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autonomous audio workflow planned two source-grounded conversations and rendered them with configured Piper voices—without changing speaking speed.</a:t>
            </a:r>
            <a:endParaRPr sz="1500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Rectangle 23"/>
          <p:cNvSpPr>
            <a:spLocks noGrp="1"/>
          </p:cNvSpPr>
          <p:nvPr/>
        </p:nvSpPr>
        <p:spPr>
          <a:xfrm>
            <a:off x="6286500" y="4000500"/>
            <a:ext cx="48958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D3B7"/>
                </a:solidFill>
                <a:latin typeface="Aptos"/>
                <a:ea typeface="Aptos"/>
                <a:cs typeface="Aptos"/>
              </a:rPr>
              <a:t>English: 94.7 seconds</a:t>
            </a:r>
            <a:endParaRPr sz="1350" b="1">
              <a:solidFill>
                <a:srgbClr val="2ED3B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D3B7"/>
                </a:solidFill>
                <a:latin typeface="Aptos"/>
                <a:ea typeface="Aptos"/>
                <a:cs typeface="Aptos"/>
              </a:rPr>
              <a:t>Persian: 149.4 seconds</a:t>
            </a:r>
            <a:endParaRPr sz="1350" b="1">
              <a:solidFill>
                <a:srgbClr val="2ED3B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D3B7"/>
                </a:solidFill>
                <a:latin typeface="Aptos"/>
                <a:ea typeface="Aptos"/>
                <a:cs typeface="Aptos"/>
              </a:rPr>
              <a:t>28 live events per artifact</a:t>
            </a:r>
            <a:endParaRPr sz="1350" b="1">
              <a:solidFill>
                <a:srgbClr val="2ED3B7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>
            <a:spLocks noGrp="1"/>
          </p:cNvSpPr>
          <p:nvPr/>
        </p:nvSpPr>
        <p:spPr>
          <a:xfrm>
            <a:off x="685800" y="685800"/>
            <a:ext cx="114300" cy="1200150"/>
          </a:xfrm>
          <a:prstGeom prst="rect">
            <a:avLst/>
          </a:prstGeom>
          <a:solidFill>
            <a:srgbClr val="FF795B"/>
          </a:solidFill>
          <a:ln w="0">
            <a:noFill/>
            <a:prstDash val="solid"/>
          </a:ln>
        </p:spPr>
      </p:sp>
      <p:sp>
        <p:nvSpPr>
          <p:cNvPr id="2" name="Rectangle 1"/>
          <p:cNvSpPr>
            <a:spLocks noGrp="1"/>
          </p:cNvSpPr>
          <p:nvPr/>
        </p:nvSpPr>
        <p:spPr>
          <a:xfrm>
            <a:off x="1047750" y="762000"/>
            <a:ext cx="10096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Release verdict</a:t>
            </a:r>
            <a:endParaRPr sz="36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1047750" y="2057400"/>
            <a:ext cx="1009650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950" b="0">
                <a:solidFill>
                  <a:srgbClr val="F4EEE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4EEE2"/>
                </a:solidFill>
                <a:latin typeface="Aptos"/>
                <a:ea typeface="Aptos"/>
                <a:cs typeface="Aptos"/>
              </a:rPr>
              <a:t>The end-to-end run validates multilingual ingestion, Search, agentic retrieval, durable live Studio jobs, structured learning outputs, editable slides, natural audio, and licensed-media video.</a:t>
            </a:r>
            <a:endParaRPr sz="1950" b="0">
              <a:solidFill>
                <a:srgbClr val="F4EEE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ounded Rectangle 3"/>
          <p:cNvSpPr>
            <a:spLocks noGrp="1"/>
          </p:cNvSpPr>
          <p:nvPr/>
        </p:nvSpPr>
        <p:spPr>
          <a:xfrm>
            <a:off x="1047750" y="4095750"/>
            <a:ext cx="10096500" cy="952500"/>
          </a:xfrm>
          <a:prstGeom prst="roundRect">
            <a:avLst>
              <a:gd name="adj" fmla="val 12000"/>
            </a:avLst>
          </a:prstGeom>
          <a:solidFill>
            <a:srgbClr val="0E756F"/>
          </a:solidFill>
          <a:ln w="0">
            <a:noFill/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1352550" y="4248150"/>
            <a:ext cx="9486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Every published artifact is the app's own output; manifests preserve hashes, quality checks, and media provenance.</a:t>
            </a:r>
            <a:endParaRPr sz="1425" b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hlinkClick r:id="rId1" action="ppaction://hlinkfile"/>
          </p:cNvPr>
          <p:cNvSpPr>
            <a:spLocks noGrp="1"/>
          </p:cNvSpPr>
          <p:nvPr/>
        </p:nvSpPr>
        <p:spPr>
          <a:xfrm>
            <a:off x="1047750" y="5753100"/>
            <a:ext cx="1009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>
                <a:solidFill>
                  <a:srgbClr val="2ED3B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D3B7"/>
                </a:solidFill>
                <a:latin typeface="Aptos"/>
                <a:ea typeface="Aptos"/>
                <a:cs typeface="Aptos"/>
                <a:hlinkClick r:id="rId1" action="ppaction://hlinkfile"/>
              </a:rPr>
              <a:t>https://github.com/msmahdinejad/SourceLens</a:t>
            </a:r>
            <a:endParaRPr sz="1350" b="1">
              <a:solidFill>
                <a:srgbClr val="2ED3B7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rceLens">
  <a:themeElements>
    <a:clrScheme name="SourceLe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ourceLe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ourceLens">
  <a:themeElements>
    <a:clrScheme name="SourceLen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ourceLen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2053</Words>
  <Application>WPS Presentation</Application>
  <PresentationFormat>Converted Presentation</PresentationFormat>
  <Paragraphs>106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Arial</vt:lpstr>
      <vt:lpstr>SimSun</vt:lpstr>
      <vt:lpstr>Wingdings</vt:lpstr>
      <vt:lpstr>Aptos</vt:lpstr>
      <vt:lpstr>Segoe UI</vt:lpstr>
      <vt:lpstr>SourceLens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SourceLens</dc:creator>
  <cp:lastModifiedBy>SourceLens</cp:lastModifiedBy>
  <cp:revision>3</cp:revision>
  <dcterms:created xsi:type="dcterms:W3CDTF">2026-08-09T17:26:00Z</dcterms:created>
  <dcterms:modified xsi:type="dcterms:W3CDTF">2026-08-09T17:27:24Z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61180ACCACE94948BAA692BC36AA8019_12</vt:lpwstr>
  </property>
  <property fmtid="{D5CDD505-2E9C-101B-9397-08002B2CF9AE}" pid="3" name="KSOProductBuildVer">
    <vt:lpwstr>1033-12.1.0.28032</vt:lpwstr>
  </property>
</Properties>
</file>