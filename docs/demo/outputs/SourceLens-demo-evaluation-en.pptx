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bc7d1d2aad44b7" /><Relationship Type="http://schemas.openxmlformats.org/officeDocument/2006/relationships/extended-properties" Target="/docProps/app.xml" Id="R71465e43df5a4388" /><Relationship Type="http://schemas.openxmlformats.org/officeDocument/2006/relationships/officeDocument" Target="/ppt/presentation.xml" Id="Rf31e87007baf43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83a9bed3ef4f07"/>
  </p:sldMasterIdLst>
  <p:notesMasterIdLst>
    <p:notesMasterId xmlns:r="http://schemas.openxmlformats.org/officeDocument/2006/relationships" r:id="R16bb077d75c54a59"/>
  </p:notesMasterIdLst>
  <p:sldIdLst>
    <p:sldId xmlns:r="http://schemas.openxmlformats.org/officeDocument/2006/relationships" id="256" r:id="R04eddbd4c5bd44de"/>
    <p:sldId xmlns:r="http://schemas.openxmlformats.org/officeDocument/2006/relationships" id="257" r:id="R4fbe9a6c95bd4a03"/>
    <p:sldId xmlns:r="http://schemas.openxmlformats.org/officeDocument/2006/relationships" id="258" r:id="R515074edc900430a"/>
    <p:sldId xmlns:r="http://schemas.openxmlformats.org/officeDocument/2006/relationships" id="259" r:id="R1cb54db3cebf4981"/>
    <p:sldId xmlns:r="http://schemas.openxmlformats.org/officeDocument/2006/relationships" id="260" r:id="R2bce5f8239894717"/>
    <p:sldId xmlns:r="http://schemas.openxmlformats.org/officeDocument/2006/relationships" id="261" r:id="R4b26409acb8345c1"/>
    <p:sldId xmlns:r="http://schemas.openxmlformats.org/officeDocument/2006/relationships" id="262" r:id="R9c005643ee4c4271"/>
    <p:sldId xmlns:r="http://schemas.openxmlformats.org/officeDocument/2006/relationships" id="263" r:id="R0c85e38f09624a01"/>
    <p:sldId xmlns:r="http://schemas.openxmlformats.org/officeDocument/2006/relationships" id="264" r:id="R68493f823d1c4a00"/>
    <p:sldId xmlns:r="http://schemas.openxmlformats.org/officeDocument/2006/relationships" id="265" r:id="Rf1aa7dedd4214a27"/>
    <p:sldId xmlns:r="http://schemas.openxmlformats.org/officeDocument/2006/relationships" id="266" r:id="Rc8b331cc36cf460a"/>
    <p:sldId xmlns:r="http://schemas.openxmlformats.org/officeDocument/2006/relationships" id="267" r:id="R7b216a45dea546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d10f1532094a51" /><Relationship Type="http://schemas.openxmlformats.org/officeDocument/2006/relationships/slideMaster" Target="/ppt/slideMasters/slideMaster1.xml" Id="Rb083a9bed3ef4f07" /><Relationship Type="http://schemas.openxmlformats.org/officeDocument/2006/relationships/notesMaster" Target="/ppt/notesMasters/notesMaster1.xml" Id="R16bb077d75c54a59" /><Relationship Type="http://schemas.openxmlformats.org/officeDocument/2006/relationships/presProps" Target="/ppt/presProps.xml" Id="Rae3b319a6e6643b1" /><Relationship Type="http://schemas.openxmlformats.org/officeDocument/2006/relationships/tableStyles" Target="/ppt/tableStyles.xml" Id="R3c52b6ef89ae46af" /><Relationship Type="http://schemas.openxmlformats.org/officeDocument/2006/relationships/slide" Target="/ppt/slides/slide1.xml" Id="R04eddbd4c5bd44de" /><Relationship Type="http://schemas.openxmlformats.org/officeDocument/2006/relationships/slide" Target="/ppt/slides/slide2.xml" Id="R4fbe9a6c95bd4a03" /><Relationship Type="http://schemas.openxmlformats.org/officeDocument/2006/relationships/slide" Target="/ppt/slides/slide3.xml" Id="R515074edc900430a" /><Relationship Type="http://schemas.openxmlformats.org/officeDocument/2006/relationships/slide" Target="/ppt/slides/slide4.xml" Id="R1cb54db3cebf4981" /><Relationship Type="http://schemas.openxmlformats.org/officeDocument/2006/relationships/slide" Target="/ppt/slides/slide5.xml" Id="R2bce5f8239894717" /><Relationship Type="http://schemas.openxmlformats.org/officeDocument/2006/relationships/slide" Target="/ppt/slides/slide6.xml" Id="R4b26409acb8345c1" /><Relationship Type="http://schemas.openxmlformats.org/officeDocument/2006/relationships/slide" Target="/ppt/slides/slide7.xml" Id="R9c005643ee4c4271" /><Relationship Type="http://schemas.openxmlformats.org/officeDocument/2006/relationships/slide" Target="/ppt/slides/slide8.xml" Id="R0c85e38f09624a01" /><Relationship Type="http://schemas.openxmlformats.org/officeDocument/2006/relationships/slide" Target="/ppt/slides/slide9.xml" Id="R68493f823d1c4a00" /><Relationship Type="http://schemas.openxmlformats.org/officeDocument/2006/relationships/slide" Target="/ppt/slides/slide10.xml" Id="Rf1aa7dedd4214a27" /><Relationship Type="http://schemas.openxmlformats.org/officeDocument/2006/relationships/slide" Target="/ppt/slides/slide11.xml" Id="Rc8b331cc36cf460a" /><Relationship Type="http://schemas.openxmlformats.org/officeDocument/2006/relationships/slide" Target="/ppt/slides/slide12.xml" Id="R7b216a45dea546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567a19d5854a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ourceLens">
  <a:themeElements>
    <a:clrScheme name="SourceLe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urceLe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d4f04b6aa2488e" /><Relationship Type="http://schemas.openxmlformats.org/officeDocument/2006/relationships/notesMaster" Target="/ppt/notesMasters/notesMaster1.xml" Id="R96addb577bf24f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a1d2dfdb364dd6" /><Relationship Type="http://schemas.openxmlformats.org/officeDocument/2006/relationships/notesMaster" Target="/ppt/notesMasters/notesMaster1.xml" Id="R3a0a76cc8c8e4d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bb441b241743bb" /><Relationship Type="http://schemas.openxmlformats.org/officeDocument/2006/relationships/notesMaster" Target="/ppt/notesMasters/notesMaster1.xml" Id="R6ab87d9f00cb4d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d5732f91074935" /><Relationship Type="http://schemas.openxmlformats.org/officeDocument/2006/relationships/notesMaster" Target="/ppt/notesMasters/notesMaster1.xml" Id="R630562abf5f54f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f8322c165349b4" /><Relationship Type="http://schemas.openxmlformats.org/officeDocument/2006/relationships/notesMaster" Target="/ppt/notesMasters/notesMaster1.xml" Id="R4ec6dfaf9c8d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31b39e5c59446a" /><Relationship Type="http://schemas.openxmlformats.org/officeDocument/2006/relationships/notesMaster" Target="/ppt/notesMasters/notesMaster1.xml" Id="Reb5fc84301ad4d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9ff858cdf4cc9" /><Relationship Type="http://schemas.openxmlformats.org/officeDocument/2006/relationships/notesMaster" Target="/ppt/notesMasters/notesMaster1.xml" Id="R05edb1fc3d0444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bc87a0893e4db0" /><Relationship Type="http://schemas.openxmlformats.org/officeDocument/2006/relationships/notesMaster" Target="/ppt/notesMasters/notesMaster1.xml" Id="R9b1fa58898f241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eca21ea7894bc6" /><Relationship Type="http://schemas.openxmlformats.org/officeDocument/2006/relationships/notesMaster" Target="/ppt/notesMasters/notesMaster1.xml" Id="R92a1fb2c8c2c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43a171d844496" /><Relationship Type="http://schemas.openxmlformats.org/officeDocument/2006/relationships/notesMaster" Target="/ppt/notesMasters/notesMaster1.xml" Id="R9ea0f44e256742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59a576e5874f84" /><Relationship Type="http://schemas.openxmlformats.org/officeDocument/2006/relationships/notesMaster" Target="/ppt/notesMasters/notesMaster1.xml" Id="R7f5d12507dfd47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529ea1f23f4bff" /><Relationship Type="http://schemas.openxmlformats.org/officeDocument/2006/relationships/notesMaster" Target="/ppt/notesMasters/notesMaster1.xml" Id="Rf074deff27f641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Charge While You Shop public demo</a:t>
            </a:r>
          </a:p>
          <a:p xmlns:a="http://schemas.openxmlformats.org/drawingml/2006/main">
            <a:r>
              <a:t>docs/demo/README.md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docs/demo/source-research.md</a:t>
            </a:r>
          </a:p>
          <a:p xmlns:a="http://schemas.openxmlformats.org/drawingml/2006/main">
            <a:r>
              <a:t>https://www.mdpi.com/1996-1073/14/15/4598</a:t>
            </a:r>
          </a:p>
          <a:p xmlns:a="http://schemas.openxmlformats.org/drawingml/2006/main">
            <a:r>
              <a:t>https://publications.jrc.ec.europa.eu/repository/handle/JRC133895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docs/demo/assets/04-web-search-en.png</a:t>
            </a:r>
          </a:p>
          <a:p xmlns:a="http://schemas.openxmlformats.org/drawingml/2006/main">
            <a:r>
              <a:t>docs/demo/source-research.md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docs/demo/outputs/en/index.json</a:t>
            </a:r>
          </a:p>
          <a:p xmlns:a="http://schemas.openxmlformats.org/drawingml/2006/main">
            <a:r>
              <a:t>docs/demo/outputs/fa/index.json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docs/retrieval-benchmark.md</a:t>
            </a:r>
          </a:p>
          <a:p xmlns:a="http://schemas.openxmlformats.org/drawingml/2006/main">
            <a:r>
              <a:t>docs/demo/assets/03-source-cards-en.png</a:t>
            </a:r>
          </a:p>
          <a:p xmlns:a="http://schemas.openxmlformats.org/drawingml/2006/main">
            <a:r>
              <a:t>docs/demo/assets/10-report-en.png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Studio live-event stream</a:t>
            </a:r>
          </a:p>
          <a:p xmlns:a="http://schemas.openxmlformats.org/drawingml/2006/main">
            <a:r>
              <a:t>artifact status, retry, cancellation, and restart recovery tests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docs/demo/outputs/en/index.json</a:t>
            </a:r>
          </a:p>
          <a:p xmlns:a="http://schemas.openxmlformats.org/drawingml/2006/main">
            <a:r>
              <a:t>docs/demo/outputs/fa/index.json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https://github.com/msmahdinejad/SourceLens/raw/main/docs/demo/outputs/en/charge-while-you-shop-slide-deck.pptx</a:t>
            </a:r>
          </a:p>
          <a:p xmlns:a="http://schemas.openxmlformats.org/drawingml/2006/main">
            <a:r>
              <a:t>https://github.com/msmahdinejad/SourceLens/raw/main/docs/demo/outputs/en/charge-while-you-shop-video-overview.mp4</a:t>
            </a:r>
          </a:p>
          <a:p xmlns:a="http://schemas.openxmlformats.org/drawingml/2006/main">
            <a:r>
              <a:t>https://www.pexels.com/license/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scripts/validate_public_demo.py</a:t>
            </a:r>
          </a:p>
          <a:p xmlns:a="http://schemas.openxmlformats.org/drawingml/2006/main">
            <a:r>
              <a:t>docs/retrieval-benchmark.md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docs/demo/outputs/en/charge-while-you-shop-audio-overview.mp3</a:t>
            </a:r>
          </a:p>
          <a:p xmlns:a="http://schemas.openxmlformats.org/drawingml/2006/main">
            <a:r>
              <a:t>docs/demo/outputs/en/charge-while-you-shop-audio-overview-transcript.txt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scripts/validate_public_demo.py</a:t>
            </a:r>
          </a:p>
          <a:p xmlns:a="http://schemas.openxmlformats.org/drawingml/2006/main">
            <a:r>
              <a:t>docs/retrieval-benchmark.md</a:t>
            </a:r>
          </a:p>
          <a:p xmlns:a="http://schemas.openxmlformats.org/drawingml/2006/main">
            <a:r>
              <a:t>THIRD_PARTY_LICENSES.md</a:t>
            </a:r>
          </a:p>
          <a:p xmlns:a="http://schemas.openxmlformats.org/drawingml/2006/main">
            <a:r>
              <a:t>.github/workflows/ci.yml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SourceLens final demo run, 2026-08-10</a:t>
            </a:r>
          </a:p>
          <a:p xmlns:a="http://schemas.openxmlformats.org/drawingml/2006/main">
            <a:r>
              <a:t>docs/demo/README.md</a:t>
            </a:r>
          </a:p>
          <a:p xmlns:a="http://schemas.openxmlformats.org/drawingml/2006/main">
            <a:r>
              <a:t>docs/demo/README.fa.md</a:t>
            </a:r>
          </a:p>
          <a:p xmlns:a="http://schemas.openxmlformats.org/drawingml/2006/main">
            <a:r>
              <a:t>docs/demo/source-research.md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10757646c48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2030170f2408e" /><Relationship Type="http://schemas.openxmlformats.org/officeDocument/2006/relationships/slideLayout" Target="/ppt/slideLayouts/slideLayout1.xml" Id="Re08a8ddfb4df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8a8ddfb4df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SourceLens">
  <a:themeElements>
    <a:clrScheme name="SourceLe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urceLe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40a8ca2934f64" /><Relationship Type="http://schemas.openxmlformats.org/officeDocument/2006/relationships/image" Target="/ppt/media/image.jpeg" Id="Rc5926b7f079a41d8" /><Relationship Type="http://schemas.openxmlformats.org/officeDocument/2006/relationships/notesSlide" Target="/ppt/notesSlides/notesSlide1.xml" Id="R3dbd63b300e745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e3e9eb8c14729" /><Relationship Type="http://schemas.openxmlformats.org/officeDocument/2006/relationships/image" Target="/ppt/media/image2.jpeg" Id="R7f4a21b1c85f428f" /><Relationship Type="http://schemas.openxmlformats.org/officeDocument/2006/relationships/notesSlide" Target="/ppt/notesSlides/notesSlide2.xml" Id="Rc0a15e24975248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8ccd8584e475c" /><Relationship Type="http://schemas.openxmlformats.org/officeDocument/2006/relationships/image" Target="/ppt/media/image3.jpeg" Id="R53eb7cf79f724118" /><Relationship Type="http://schemas.openxmlformats.org/officeDocument/2006/relationships/notesSlide" Target="/ppt/notesSlides/notesSlide3.xml" Id="Rbfb6a945211843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0cdffaae1444a" /><Relationship Type="http://schemas.openxmlformats.org/officeDocument/2006/relationships/image" Target="/ppt/media/image4.jpeg" Id="Rcc4721cc498540a2" /><Relationship Type="http://schemas.openxmlformats.org/officeDocument/2006/relationships/image" Target="/ppt/media/image5.jpeg" Id="R7af9b40763054dba" /><Relationship Type="http://schemas.openxmlformats.org/officeDocument/2006/relationships/notesSlide" Target="/ppt/notesSlides/notesSlide4.xml" Id="Rea22e2b976844e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af4265f3b45c3" /><Relationship Type="http://schemas.openxmlformats.org/officeDocument/2006/relationships/image" Target="/ppt/media/image6.jpeg" Id="R3af0c0438c4c4b40" /><Relationship Type="http://schemas.openxmlformats.org/officeDocument/2006/relationships/image" Target="/ppt/media/image7.jpeg" Id="R8eadb75c9d1f46c3" /><Relationship Type="http://schemas.openxmlformats.org/officeDocument/2006/relationships/notesSlide" Target="/ppt/notesSlides/notesSlide5.xml" Id="R95c74d16ac934c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a2818fdf043e0" /><Relationship Type="http://schemas.openxmlformats.org/officeDocument/2006/relationships/image" Target="/ppt/media/image8.jpeg" Id="Rd8c99385fa34436c" /><Relationship Type="http://schemas.openxmlformats.org/officeDocument/2006/relationships/image" Target="/ppt/media/image9.jpeg" Id="R257030df1fee4514" /><Relationship Type="http://schemas.openxmlformats.org/officeDocument/2006/relationships/notesSlide" Target="/ppt/notesSlides/notesSlide6.xml" Id="R8df4cdffc28348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b098c69f94c21" /><Relationship Type="http://schemas.openxmlformats.org/officeDocument/2006/relationships/notesSlide" Target="/ppt/notesSlides/notesSlide7.xml" Id="R089d3afff4894b23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8b15a11b7d840f9" /><Relationship Type="http://schemas.openxmlformats.org/officeDocument/2006/relationships/image" Target="/ppt/media/image.png" Id="Rdbef2a5cabf0455f" /><Relationship Type="http://schemas.openxmlformats.org/officeDocument/2006/relationships/image" Target="/ppt/media/image10.jpeg" Id="R766b2e0bdb514c87" /><Relationship Type="http://schemas.openxmlformats.org/officeDocument/2006/relationships/notesSlide" Target="/ppt/notesSlides/notesSlide8.xml" Id="R75dc9ae2a4c84523" /><Relationship Id="rId1" Type="http://schemas.openxmlformats.org/officeDocument/2006/relationships/hyperlink" Target="https://github.com/msmahdinejad/SourceLens/raw/main/docs/demo/outputs/en/charge-while-you-shop-slide-deck.pptx" TargetMode="External" /><Relationship Id="rId2" Type="http://schemas.openxmlformats.org/officeDocument/2006/relationships/hyperlink" Target="https://github.com/msmahdinejad/SourceLens/raw/main/docs/demo/outputs/en/charge-while-you-shop-video-overview.mp4" TargetMode="External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9a612f81d4559" /><Relationship Type="http://schemas.openxmlformats.org/officeDocument/2006/relationships/notesSlide" Target="/ppt/notesSlides/notesSlide9.xml" Id="Ra013ea72f3d64f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2486642644bda" /><Relationship Type="http://schemas.openxmlformats.org/officeDocument/2006/relationships/notesSlide" Target="/ppt/notesSlides/notesSlide10.xml" Id="R1ed70dbad64d4a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533b3add14d20" /><Relationship Type="http://schemas.openxmlformats.org/officeDocument/2006/relationships/notesSlide" Target="/ppt/notesSlides/notesSlide11.xml" Id="Rd648377374494a09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61ef8087e8304452" /><Relationship Type="http://schemas.openxmlformats.org/officeDocument/2006/relationships/notesSlide" Target="/ppt/notesSlides/notesSlide12.xml" Id="R77b09bdf621c4b65" /><Relationship Id="rId1" Type="http://schemas.openxmlformats.org/officeDocument/2006/relationships/hyperlink" Target="https://github.com/msmahdinejad/SourceLens" TargetMode="Externa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26b7f079a41d8"/>
          <a:srcRect xmlns:a="http://schemas.openxmlformats.org/drawingml/2006/main" l="27344" t="0" r="27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524500" cy="68580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00DBA-C768-44EB-B4A0-BE12985E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97E37-40C1-4FF5-B9AC-2047579D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876300"/>
            <a:ext cx="152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BB50F-A9B5-44F4-A49A-2FE75AF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238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SourceLens — Final System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708F4-5CDA-47E5-8D4E-11C6AFC1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real bilingual run—from trusted sources to 26 useful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06DF5-9A1E-44BC-9B09-7D8E76EF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D3B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ED3B7"/>
                </a:solidFill>
                <a:latin typeface="Aptos"/>
                <a:ea typeface="Aptos"/>
                <a:cs typeface="Aptos"/>
              </a:rPr>
              <a:t>Charge While You Shop · 10 August 2026</a:t>
            </a:r>
          </a:p>
        </p:txBody>
      </p:sp>
    </p:spTree>
    <p:extLst>
      <p:ext uri="{BB962C8B-B14F-4D97-AF65-F5344CB8AC3E}">
        <p14:creationId xmlns:p14="http://schemas.microsoft.com/office/powerpoint/2010/main" val="19548782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E5865-F4BC-498F-9C41-4FE8B80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E657C-F361-452C-B60B-ADF9EDF0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F2792-CB34-4862-9E75-7097E643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Seven sources. One transparent evidence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F47B2-D04F-4CB1-879F-2A1DFF39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DD9D0-D2CE-4106-8D65-7E6C6AC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a21b1c85f428f"/>
          <a:srcRect xmlns:a="http://schemas.openxmlformats.org/drawingml/2006/main" l="6828" t="0" r="68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62865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905BC-18BB-4543-90E3-CDB2674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1866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7F1B1-5C91-42A6-A828-C4432396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7335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C5B50-C981-4CA3-9EBE-7B796040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288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ready sources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C6EB6-8BC8-4AD4-A4D4-E4D8161B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00200"/>
            <a:ext cx="2076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3F54D-EF56-4E96-8939-ACCA7A7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335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236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05357-C955-4628-8578-BC3E7029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2885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indexed chunks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AC4501-ADA5-42A5-A945-225B2AB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41719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71A24"/>
                </a:solidFill>
                <a:latin typeface="Aptos"/>
                <a:ea typeface="Aptos"/>
                <a:cs typeface="Aptos"/>
              </a:rPr>
              <a:t>Two CC BY 4.0 papers and five official web sources were added through the same Upload and Search flows available in the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92307-E93E-4211-BC29-BA3102D1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4171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43410D-7139-4A84-B6EE-315C4D7C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2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 open papers + 5 official web sources</a:t>
            </a:r>
          </a:p>
        </p:txBody>
      </p:sp>
    </p:spTree>
    <p:extLst>
      <p:ext uri="{BB962C8B-B14F-4D97-AF65-F5344CB8AC3E}">
        <p14:creationId xmlns:p14="http://schemas.microsoft.com/office/powerpoint/2010/main" val="660848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35F22-5C6B-4688-A0E7-8F33F5E8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7239A-77CB-4941-B33D-74C599E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07E8E-8369-4C5A-B209-6FBF7D8E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Search becomes a reusable research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353C3-C04E-4B80-B2DE-A591A1D1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4AA34-77A8-474A-A8CA-E171A84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b7cf79f724118"/>
          <a:stretch xmlns:a="http://schemas.openxmlformats.org/drawingml/2006/main"/>
        </p:blipFill>
        <p:spPr>
          <a:xfrm xmlns:a="http://schemas.openxmlformats.org/drawingml/2006/main">
            <a:off x="685800" y="1766888"/>
            <a:ext cx="6858000" cy="3857625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3F14A-0511-4664-8ECC-EB8DD085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76400"/>
            <a:ext cx="3581400" cy="312420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017A4-0CBB-4089-908C-A2A5619F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0099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app searched the web, let the user select results, extracted the pages, and indexed them beside the uploaded papers.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76206-A7D9-4DC4-853C-C801E6B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67300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Search · select · extract · index</a:t>
            </a:r>
          </a:p>
        </p:txBody>
      </p:sp>
    </p:spTree>
    <p:extLst>
      <p:ext uri="{BB962C8B-B14F-4D97-AF65-F5344CB8AC3E}">
        <p14:creationId xmlns:p14="http://schemas.microsoft.com/office/powerpoint/2010/main" val="15133757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B57A2-8DA5-4906-BC5D-2FDB6360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7D508-4626-41C8-89F2-D8938E95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CA7F8-B61E-4098-AA38-05511AC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Studio turns one corpus into many useful forms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F9A0A-16DE-49AE-8C32-20237BC6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4636E-8DA1-442D-8132-BC204753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721cc498540a2"/>
          <a:srcRect xmlns:a="http://schemas.openxmlformats.org/drawingml/2006/main" l="4620" t="0" r="46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501015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9b40763054dba"/>
          <a:srcRect xmlns:a="http://schemas.openxmlformats.org/drawingml/2006/main" l="134" t="0" r="1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619250"/>
            <a:ext cx="5505450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08DAD-F259-429D-AAC5-085E2049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71A24"/>
                </a:solidFill>
                <a:latin typeface="Aptos"/>
                <a:ea typeface="Aptos"/>
                <a:cs typeface="Aptos"/>
              </a:rPr>
              <a:t>The same 236 chunks produced all 13 Studio formats in English and Persian—26 app-generated artifacts in total.</a:t>
            </a:r>
          </a:p>
        </p:txBody>
      </p:sp>
    </p:spTree>
    <p:extLst>
      <p:ext uri="{BB962C8B-B14F-4D97-AF65-F5344CB8AC3E}">
        <p14:creationId xmlns:p14="http://schemas.microsoft.com/office/powerpoint/2010/main" val="1905521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DDCF7-7422-4530-A309-3E406991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F8CC5-A409-4514-AF82-3E5E189B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2EF1A-CFF2-4C70-8A46-8707029A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Grounded answers—from retrieval to citation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8019D-72C4-49CE-8D03-BD9C382C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97FC0-3659-4523-8449-4C92F63C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0c0438c4c4b40"/>
          <a:srcRect xmlns:a="http://schemas.openxmlformats.org/drawingml/2006/main" l="10477" t="0" r="104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52197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db75c9d1f46c3"/>
          <a:srcRect xmlns:a="http://schemas.openxmlformats.org/drawingml/2006/main" l="9904" t="0" r="99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1600200"/>
            <a:ext cx="52959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2FD4A-67A5-4423-9443-C5C7CBED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071A24"/>
                </a:solidFill>
                <a:latin typeface="Aptos"/>
                <a:ea typeface="Aptos"/>
                <a:cs typeface="Aptos"/>
              </a:rPr>
              <a:t>Source selection, hybrid retrieval, synthesis, and the evidence panel share one explicit source boundary.</a:t>
            </a:r>
          </a:p>
        </p:txBody>
      </p:sp>
    </p:spTree>
    <p:extLst>
      <p:ext uri="{BB962C8B-B14F-4D97-AF65-F5344CB8AC3E}">
        <p14:creationId xmlns:p14="http://schemas.microsoft.com/office/powerpoint/2010/main" val="1347524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9C244-9E2F-40D5-8B4D-3A5E65E4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5D01B-02E5-446D-AEAD-3BBF1402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4DB53-89DA-433C-9F46-E887DF2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Live, durable, inspectable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EE1AF-4477-4EE4-9902-D9174FC8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185A1-B82E-4C83-9D0C-5D051B6D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99385fa34436c"/>
          <a:srcRect xmlns:a="http://schemas.openxmlformats.org/drawingml/2006/main" l="5964" t="0" r="5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52197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030df1fee4514"/>
          <a:srcRect xmlns:a="http://schemas.openxmlformats.org/drawingml/2006/main" l="5321" t="0" r="53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0300" y="1600200"/>
            <a:ext cx="5295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7B257-8490-4D7D-AD4C-55BDFDA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9D29F-5583-4B2E-B45C-70C3A6C9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events and real 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D60F0-BBEF-43EF-A7CC-FC754DD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197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ECE83-B378-4ADF-A35D-B31A82C5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95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cancel and retry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36AD2-3B07-4C27-8767-AA5F4E3A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CC936-4422-403E-B35D-796DB2D5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95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restart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BE46C-7DF1-408C-96EA-F5DA8C19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19700"/>
            <a:ext cx="2476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F553A-8C5F-4062-ABF9-CAFA5F66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95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downloads and quality manifests</a:t>
            </a:r>
          </a:p>
        </p:txBody>
      </p:sp>
    </p:spTree>
    <p:extLst>
      <p:ext uri="{BB962C8B-B14F-4D97-AF65-F5344CB8AC3E}">
        <p14:creationId xmlns:p14="http://schemas.microsoft.com/office/powerpoint/2010/main" val="1703886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C1C6C-327C-4F89-80F8-AF56971E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E5190-B366-41A5-9DDD-DBE33543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A5310-1D55-4977-92E7-E1396017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Thirteen formats, two languages, one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A24D4-6F14-4FFB-877C-5096D0A1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42AF6-E25D-4997-814C-078658E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04C80-1426-447E-B09A-82A5668A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19475-3AFA-4D03-B55D-AEF1EDA7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Audio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0B7D9-F56C-4BE5-A13B-CFE89F7A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002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F4F50-20A6-4E60-894E-5E65057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145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15673-8DD9-4033-B0FF-30DEFB5C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DA9DD-28A7-499E-AC05-AB2F2072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Concept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9D64B-9AA5-4288-BFF9-BE449A99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002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9D2A4-CF2E-4DEB-845B-B2CCFEC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Flashcards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6505C1-FA32-4B1E-AE0E-82823F53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66254-D259-4313-BE32-EF9046B3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Quiz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B9133-4BD5-49CB-8DD9-C331C998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3D046C-17FC-4882-B0EE-AB9CECF8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Infographic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48695-82FC-4248-9818-32DFEF04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4570FE-9106-4EC0-86F0-1EB85D5A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Data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FBB36F-2ED4-4F01-BB31-31FAE5BD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33BA9-A6D6-4B68-B10E-EE5B1822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289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Chart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D2A7FF-9191-409D-B0F6-55DEF40E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3F9B7-172F-43C9-B9B3-A7BF176D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Timeline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1632E-F8C6-4593-A2D3-167548D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290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2A7783-892B-45A2-A9D4-471F0940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645C6-7FB2-4745-AAFA-472FB3F3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ABBC9E-545B-4644-8BD9-AA2DA06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Research gaps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7830F5-65DB-48E4-AAE1-605562BC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2108E-AF80-4455-95DE-E5B86414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433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PowerPoint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D6F26C-BFBC-4030-9381-5CB629F6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476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8A366-0DCE-498F-968D-01FFBB7E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E14AD-133C-412F-BA66-4E3DF6A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673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1B7CE0-DF63-4863-A329-FE639BF8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43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26 application outputs; no manual content rewriting</a:t>
            </a:r>
          </a:p>
        </p:txBody>
      </p:sp>
    </p:spTree>
    <p:extLst>
      <p:ext uri="{BB962C8B-B14F-4D97-AF65-F5344CB8AC3E}">
        <p14:creationId xmlns:p14="http://schemas.microsoft.com/office/powerpoint/2010/main" val="1352525001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">
            <a:extLst>
              <a:ext uri="{FF2B5EF4-FFF2-40B4-BE49-F238E27FC236}">
                <ns2:creationId id="{8A8A340A-DC56-4066-9496-E9642A149E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DE36E1B1-A551-4AD8-89A6-F94DBDBB8D4E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>
              <a:ext uri="{FF2B5EF4-FFF2-40B4-BE49-F238E27FC236}">
                <ns2:creationId id="{3ABE4405-70CB-43F6-9E02-48D5D2B8987E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Editable slides and cinematic video</a:t>
            </a:r>
          </a:p>
        </p:txBody>
      </p:sp>
      <p:sp>
        <p:nvSpPr>
          <p:cNvPr id="4" name="">
            <a:extLst>
              <a:ext uri="{FF2B5EF4-FFF2-40B4-BE49-F238E27FC236}">
                <ns2:creationId id="{1803BF7F-C640-4284-84C8-D910092A17FB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B4861598-F666-462C-AB61-8491A7F35934}"/>
              </a:ext>
            </a:extLst>
          </p:cNvPr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dbef2a5cabf0455f"/>
          <a:stretch/>
        </p:blipFill>
        <p:spPr>
          <a:xfrm>
            <a:off x="685800" y="1835944"/>
            <a:ext cx="5257800" cy="2957513"/>
          </a:xfrm>
          <a:prstGeom prst="roundRect">
            <a:avLst>
              <a:gd name="adj" fmla="val 3333"/>
            </a:avLst>
          </a:prstGeom>
        </p:spPr>
      </p:pic>
      <p:pic>
        <p:nvPicPr>
          <p:cNvPr id="18" name=""/>
          <p:cNvPicPr>
            <a:picLocks noChangeAspect="1"/>
          </p:cNvPicPr>
          <p:nvPr/>
        </p:nvPicPr>
        <p:blipFill>
          <a:blip r:embed="R766b2e0bdb514c87"/>
          <a:srcRect l="6875" t="0" r="6875" b="0"/>
          <a:stretch>
            <a:fillRect l="0" t="0" r="0" b="0"/>
          </a:stretch>
        </p:blipFill>
        <p:spPr>
          <a:xfrm>
            <a:off x="6248400" y="1600200"/>
            <a:ext cx="5257800" cy="3429000"/>
          </a:xfrm>
          <a:prstGeom prst="roundRect">
            <a:avLst>
              <a:gd name="adj" fmla="val 3333"/>
            </a:avLst>
          </a:prstGeom>
        </p:spPr>
      </p:pic>
      <p:sp>
        <p:nvSpPr>
          <p:cNvPr id="8" name="">
            <a:extLst>
              <a:ext uri="{FF2B5EF4-FFF2-40B4-BE49-F238E27FC236}">
                <ns2:creationId id="{98AF302E-9188-4DF2-B842-F77AE74407AB}"/>
              </a:ext>
            </a:extLst>
          </p:cNvPr>
          <p:cNvSpPr>
            <a:spLocks noGrp="1"/>
          </p:cNvSpPr>
          <p:nvPr/>
        </p:nvSpPr>
        <p:spPr>
          <a:xfrm>
            <a:off x="876300" y="5562600"/>
            <a:ext cx="487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Editable PowerPoint built from verified evidence</a:t>
            </a:r>
          </a:p>
        </p:txBody>
      </p:sp>
      <p:sp>
        <p:nvSpPr>
          <p:cNvPr id="9" name="">
            <a:extLst>
              <a:ext uri="{FF2B5EF4-FFF2-40B4-BE49-F238E27FC236}">
                <ns2:creationId id="{0C8F5E2F-D3CD-4335-A830-820DD360B1CD}"/>
              </a:ext>
            </a:extLst>
          </p:cNvPr>
          <p:cNvSpPr>
            <a:spLocks noGrp="1"/>
          </p:cNvSpPr>
          <p:nvPr/>
        </p:nvSpPr>
        <p:spPr>
          <a:xfrm>
            <a:off x="6438900" y="5562600"/>
            <a:ext cx="487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Full HD video with real API media</a:t>
            </a:r>
          </a:p>
        </p:txBody>
      </p:sp>
      <p:sp>
        <p:nvSpPr>
          <p:cNvPr id="10" name="">
            <a:extLst>
              <a:ext uri="{FF2B5EF4-FFF2-40B4-BE49-F238E27FC236}">
                <ns2:creationId id="{138EBB7A-809D-4C6A-899B-E76103660D1B}"/>
              </a:ext>
            </a:extLst>
            <a:hlinkClick r:id="rId1"/>
          </p:cNvPr>
          <p:cNvSpPr>
            <a:spLocks noGrp="1"/>
          </p:cNvSpPr>
          <p:nvPr/>
        </p:nvSpPr>
        <p:spPr>
          <a:xfrm>
            <a:off x="685800" y="600075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7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47A"/>
                </a:solidFill>
                <a:latin typeface="Aptos"/>
                <a:ea typeface="Aptos"/>
                <a:cs typeface="Aptos"/>
                <a:hlinkClick r:id="rId1"/>
              </a:rPr>
              <a:t>https://github.com/msmahdinejad/SourceLens/raw/main/docs/demo/outputs/en/charge-while-you-shop-slide-deck.pptx</a:t>
            </a:r>
          </a:p>
        </p:txBody>
      </p:sp>
      <p:sp>
        <p:nvSpPr>
          <p:cNvPr id="11" name="">
            <a:extLst>
              <a:ext uri="{FF2B5EF4-FFF2-40B4-BE49-F238E27FC236}">
                <ns2:creationId id="{A640ECF4-BA2F-4381-8947-6F5644F0DD45}"/>
              </a:ext>
            </a:extLst>
            <a:hlinkClick r:id="rId2"/>
          </p:cNvPr>
          <p:cNvSpPr>
            <a:spLocks noGrp="1"/>
          </p:cNvSpPr>
          <p:nvPr/>
        </p:nvSpPr>
        <p:spPr>
          <a:xfrm>
            <a:off x="6248400" y="600075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7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47A"/>
                </a:solidFill>
                <a:latin typeface="Aptos"/>
                <a:ea typeface="Aptos"/>
                <a:cs typeface="Aptos"/>
                <a:hlinkClick r:id="rId2"/>
              </a:rPr>
              <a:t>https://github.com/msmahdinejad/SourceLens/raw/main/docs/demo/outputs/en/charge-while-you-shop-video-overview.mp4</a:t>
            </a:r>
          </a:p>
        </p:txBody>
      </p:sp>
    </p:spTree>
    <p:extLst>
      <p:ext uri="{BB962C8B-B14F-4D97-AF65-F5344CB8AC3E}">
        <ns4:creationId val="3575450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B45E2-EF9A-4CC2-8B61-D281A2F3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83C5E-DD2C-4341-B5D5-237D6E4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59D56-7D44-47A6-B7BF-7063345F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Quality gates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1BEA0-2276-4667-9EC6-6796B7E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E5AD2-05BE-4931-9291-26364A08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A7329-1881-4EBE-B71D-1DB76540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17B778-F5ED-422C-97BE-C8DEC47F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3983C-79EE-4B6A-82BE-E859F133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ready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1F0DC-566A-4EE9-A5AA-D7EE34E0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7640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7DEFC-7058-46C1-B4D7-650681D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50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3123E-8806-4159-872E-AE89600B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video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0D84C-8155-42D3-9D51-DE8218F5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476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2E4B9-B124-4F95-9904-C7FD497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Full HD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03FD4-8673-4611-9F5C-95EB11E5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video resolution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EB470-EDC1-44D4-8806-C67952C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76400"/>
            <a:ext cx="2705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90EC9-4282-40E9-BB4A-27D1274D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62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FC821-E691-4069-975B-9B1874A7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05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editable slides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9F4783-84A8-487C-9EEC-C58874A3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5B01E-8816-4415-BB90-93721E09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0096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full Python suite passed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Node tests, JavaScript syntax, and license audits are green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Videos: natural-speed audio, H.264 + AAC, captions, and clean timelines</a:t>
            </a:r>
          </a:p>
        </p:txBody>
      </p:sp>
    </p:spTree>
    <p:extLst>
      <p:ext uri="{BB962C8B-B14F-4D97-AF65-F5344CB8AC3E}">
        <p14:creationId xmlns:p14="http://schemas.microsoft.com/office/powerpoint/2010/main" val="3725393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E077C-C61C-4E9E-8C67-6BEE6519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117CD-050E-4346-8CA7-ECCC9D3A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A6330-98D6-4FE2-B383-AFA1506C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Natural bilingual audio with Live 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48272-69B9-4DFB-A991-0B2F5CC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20631-B08C-412B-8FC0-C465D967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C06EF-D670-495F-9210-AA1ECDE3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3EC8C-5034-43B9-A3AC-716700FE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14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E6501-DD2D-49D7-9950-FCB2C51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1242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83481A-F5C2-431F-8F77-FD6ED7CC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09900"/>
            <a:ext cx="114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17421-A465-4F38-B664-B3FB7441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5600"/>
            <a:ext cx="11430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A8AF6-6D3F-4FB7-91A4-690F065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81300"/>
            <a:ext cx="1143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8A65F-6D46-4C9B-80E5-3320F91F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38500"/>
            <a:ext cx="114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7955D-E1BB-4235-A824-0D8BF34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242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3ACC7-3CD5-4E12-875C-25F31D05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09900"/>
            <a:ext cx="114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426D9-766A-41D2-ABC1-138346C4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95600"/>
            <a:ext cx="11430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44899-59CC-45DD-9C4D-C09E4C3C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81300"/>
            <a:ext cx="11430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D5302-74AB-4739-93A5-C82BBE5D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38500"/>
            <a:ext cx="114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12495F-E24A-426A-9C63-8B0F4281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24200"/>
            <a:ext cx="1143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011D6-C049-4BD3-9CED-F672DB0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114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8ED2D-FD02-4F06-BA58-AEF909EB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95600"/>
            <a:ext cx="11430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6B1DE-0D2C-4470-A2B7-DDBF6650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 dialogue turns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Puck + Kore voices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Downloadable transcript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683F4-6E83-4FE2-A561-3AF1EF8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554355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0B2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D5E07-73D2-4FC5-9345-38AAC983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895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app prepared a source-grounded dialogue, then rendered it with Gemini Live 3.1 and Puck with Kore or Aoede at natural speed.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DBB79-1DDD-4E2F-B455-2F63FDFE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8958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3B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D3B7"/>
                </a:solidFill>
                <a:latin typeface="Aptos"/>
                <a:ea typeface="Aptos"/>
                <a:cs typeface="Aptos"/>
              </a:rPr>
              <a:t>117.38 seconds</a:t>
            </a:r>
          </a:p>
          <a:p xmlns:a="http://schemas.openxmlformats.org/drawingml/2006/main">
            <a:pPr algn="l">
              <a:defRPr sz="1350" b="1">
                <a:solidFill>
                  <a:srgbClr val="2ED3B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D3B7"/>
                </a:solidFill>
                <a:latin typeface="Aptos"/>
                <a:ea typeface="Aptos"/>
                <a:cs typeface="Aptos"/>
              </a:rPr>
              <a:t>Gemini 3.1 Live</a:t>
            </a:r>
          </a:p>
          <a:p xmlns:a="http://schemas.openxmlformats.org/drawingml/2006/main">
            <a:pPr algn="l">
              <a:defRPr sz="1350" b="1">
                <a:solidFill>
                  <a:srgbClr val="2ED3B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D3B7"/>
                </a:solidFill>
                <a:latin typeface="Aptos"/>
                <a:ea typeface="Aptos"/>
                <a:cs typeface="Aptos"/>
              </a:rPr>
              <a:t>Unchanged speaking speed</a:t>
            </a:r>
          </a:p>
        </p:txBody>
      </p:sp>
    </p:spTree>
    <p:extLst>
      <p:ext uri="{BB962C8B-B14F-4D97-AF65-F5344CB8AC3E}">
        <p14:creationId xmlns:p14="http://schemas.microsoft.com/office/powerpoint/2010/main" val="4433859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B3528-1B62-4C53-96B3-165C85CE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3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A63A1-AD29-4A2A-9527-345A25B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SOURCELENS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22006-5831-4F76-BA64-2ECB9F1E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A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71A24"/>
                </a:solidFill>
                <a:latin typeface="Aptos"/>
                <a:ea typeface="Aptos"/>
                <a:cs typeface="Aptos"/>
              </a:rPr>
              <a:t>Release evidence: quality, licensing, 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C6AC2-37DC-4D8E-A1C5-0579779F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3FA23-1922-4B1C-AE74-A4D1B5B8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055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074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52E3F-6DD5-4CC0-A6E2-8ABA9AE7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05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EE7AE-271F-49B9-BE4E-04D66613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34581-DBC0-4EA5-821A-CAC52579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recorded recall and citation 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55C35-C324-49E4-8B3B-6D61917A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00200"/>
            <a:ext cx="5105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EF9B65-239E-4D3E-A16B-F366A111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0D622-6FB5-4133-978A-B0F4F73B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574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hash, size, and sidecar manifests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24AF7-DCF2-48FC-BF37-58884983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105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166ADA-75DB-45C8-9EDB-611066A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1E752-72E5-431F-8CA1-6192D0E4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real Pexels assets with exact credit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388FF-9949-45EA-8A36-02BDEF9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5105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600AE-F9E9-4E3F-A38F-51FFA45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30890-6FE6-44B2-962A-9C48C2EB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Full HD, H.264, AAC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3469C-7D75-445C-9E9E-8F5ABAA9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5105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3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A3D81-38B4-4468-9D24-2FADE202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5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56F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8A4D2-9309-43D7-A0F5-292FC105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0747A"/>
                </a:solidFill>
                <a:latin typeface="Aptos"/>
                <a:ea typeface="Aptos"/>
                <a:cs typeface="Aptos"/>
              </a:rPr>
              <a:t>no key, private ID, or local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3C05B-365C-47FB-A6DE-335D0B4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5105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E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94AC4-CC4C-4C6C-ADAD-34941679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053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BA495-0FDD-4FEE-84C5-965F0914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48200"/>
            <a:ext cx="468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Windows/Linux CI and license audit</a:t>
            </a:r>
          </a:p>
        </p:txBody>
      </p:sp>
    </p:spTree>
    <p:extLst>
      <p:ext uri="{BB962C8B-B14F-4D97-AF65-F5344CB8AC3E}">
        <p14:creationId xmlns:p14="http://schemas.microsoft.com/office/powerpoint/2010/main" val="1988788468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071A2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5D21004-9E25-48A5-9597-2965F1A5105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114300" cy="1200150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2" name="">
            <a:extLst>
              <a:ext uri="{FF2B5EF4-FFF2-40B4-BE49-F238E27FC236}">
                <ns2:creationId id="{88A5CA35-E528-428E-8AE8-A65990E07385}"/>
              </a:ext>
            </a:extLst>
          </p:cNvPr>
          <p:cNvSpPr>
            <a:spLocks noGrp="1"/>
          </p:cNvSpPr>
          <p:nvPr/>
        </p:nvSpPr>
        <p:spPr>
          <a:xfrm>
            <a:off x="1047750" y="762000"/>
            <a:ext cx="1009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Release verdict</a:t>
            </a:r>
          </a:p>
        </p:txBody>
      </p:sp>
      <p:sp>
        <p:nvSpPr>
          <p:cNvPr id="3" name="">
            <a:extLst>
              <a:ext uri="{FF2B5EF4-FFF2-40B4-BE49-F238E27FC236}">
                <ns2:creationId id="{295DD0F7-7F2A-4BF2-A5E9-47C15941EAFC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096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end-to-end run validates multilingual ingestion, Search, agentic retrieval, durable live Studio jobs, structured learning outputs, editable slides, natural audio, and licensed-media video.</a:t>
            </a:r>
          </a:p>
        </p:txBody>
      </p:sp>
      <p:sp>
        <p:nvSpPr>
          <p:cNvPr id="4" name="">
            <a:extLst>
              <a:ext uri="{FF2B5EF4-FFF2-40B4-BE49-F238E27FC236}">
                <ns2:creationId id="{9C6972B8-C38A-4F04-8EDE-2E71BF0EF297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1E98659E-65A9-40A3-B3B6-A75352ECC300}"/>
              </a:ext>
            </a:extLst>
          </p:cNvPr>
          <p:cNvSpPr>
            <a:spLocks noGrp="1"/>
          </p:cNvSpPr>
          <p:nvPr/>
        </p:nvSpPr>
        <p:spPr>
          <a:xfrm>
            <a:off x="1352550" y="4248150"/>
            <a:ext cx="948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published artifact is the app's own output; manifests preserve hashes, quality checks, and media provenance.</a:t>
            </a:r>
          </a:p>
        </p:txBody>
      </p:sp>
      <p:sp>
        <p:nvSpPr>
          <p:cNvPr id="6" name="">
            <a:extLst>
              <a:ext uri="{FF2B5EF4-FFF2-40B4-BE49-F238E27FC236}">
                <ns2:creationId id="{ABBC3ADE-AE2A-475D-BF44-3E3998391731}"/>
              </a:ext>
            </a:extLst>
            <a:hlinkClick r:id="rId1"/>
          </p:cNvPr>
          <p:cNvSpPr>
            <a:spLocks noGrp="1"/>
          </p:cNvSpPr>
          <p:nvPr/>
        </p:nvSpPr>
        <p:spPr>
          <a:xfrm>
            <a:off x="1047750" y="575310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ED3B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D3B7"/>
                </a:solidFill>
                <a:latin typeface="Aptos"/>
                <a:ea typeface="Aptos"/>
                <a:cs typeface="Aptos"/>
                <a:hlinkClick r:id="rId1"/>
              </a:rPr>
              <a:t>https://github.com/msmahdinejad/SourceLens</a:t>
            </a:r>
          </a:p>
        </p:txBody>
      </p:sp>
    </p:spTree>
    <p:extLst>
      <p:ext uri="{BB962C8B-B14F-4D97-AF65-F5344CB8AC3E}">
        <ns4:creationId val="304027645"/>
      </p:ext>
    </p:extLst>
  </p:cSld>
</p:sld>
</file>

<file path=ppt/theme/theme1.xml><?xml version="1.0" encoding="utf-8"?>
<a:theme xmlns:a="http://schemas.openxmlformats.org/drawingml/2006/main" name="SourceLens">
  <a:themeElements>
    <a:clrScheme name="SourceLe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urceLe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SourceLens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SourceLens</dc:creator>
  <lastModifiedBy>SourceLens</lastModifiedBy>
  <dc:title>Presentation</dc:title>
  <dcterms:created xsi:type="dcterms:W3CDTF">2026-08-09T20:50:45.6690000Z</dcterms:created>
  <dcterms:modified xsi:type="dcterms:W3CDTF">2026-08-09T20:50:45.6690000Z</dcterms:modified>
</coreProperties>
</file>