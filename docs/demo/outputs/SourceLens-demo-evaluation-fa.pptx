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a658d966ff4aeb" /><Relationship Type="http://schemas.openxmlformats.org/officeDocument/2006/relationships/extended-properties" Target="/docProps/app.xml" Id="Rfb16e54783bf4f1d" /><Relationship Type="http://schemas.openxmlformats.org/officeDocument/2006/relationships/officeDocument" Target="/ppt/presentation.xml" Id="Rb3f0088d7c2842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52bad44dad4629"/>
  </p:sldMasterIdLst>
  <p:notesMasterIdLst>
    <p:notesMasterId xmlns:r="http://schemas.openxmlformats.org/officeDocument/2006/relationships" r:id="R09f996968bf94a0c"/>
  </p:notesMasterIdLst>
  <p:sldIdLst>
    <p:sldId xmlns:r="http://schemas.openxmlformats.org/officeDocument/2006/relationships" id="256" r:id="R924975a7191a4985"/>
    <p:sldId xmlns:r="http://schemas.openxmlformats.org/officeDocument/2006/relationships" id="257" r:id="Rda40faadb0eb4811"/>
    <p:sldId xmlns:r="http://schemas.openxmlformats.org/officeDocument/2006/relationships" id="258" r:id="R42b2d9d4d3c6431f"/>
    <p:sldId xmlns:r="http://schemas.openxmlformats.org/officeDocument/2006/relationships" id="259" r:id="R96d881e956ea4e84"/>
    <p:sldId xmlns:r="http://schemas.openxmlformats.org/officeDocument/2006/relationships" id="260" r:id="R5daa327fbf6b4993"/>
    <p:sldId xmlns:r="http://schemas.openxmlformats.org/officeDocument/2006/relationships" id="261" r:id="R60f731ccdc5e4124"/>
    <p:sldId xmlns:r="http://schemas.openxmlformats.org/officeDocument/2006/relationships" id="262" r:id="Ra6c78f11ccab4de4"/>
    <p:sldId xmlns:r="http://schemas.openxmlformats.org/officeDocument/2006/relationships" id="263" r:id="R68b0c8c856ec48d8"/>
    <p:sldId xmlns:r="http://schemas.openxmlformats.org/officeDocument/2006/relationships" id="264" r:id="R9977feb91f6e464e"/>
    <p:sldId xmlns:r="http://schemas.openxmlformats.org/officeDocument/2006/relationships" id="265" r:id="R5a520ad15e304cb6"/>
    <p:sldId xmlns:r="http://schemas.openxmlformats.org/officeDocument/2006/relationships" id="266" r:id="R623125a18628497f"/>
    <p:sldId xmlns:r="http://schemas.openxmlformats.org/officeDocument/2006/relationships" id="267" r:id="R042a484e6d8e47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3ac9b97f1a4f57" /><Relationship Type="http://schemas.openxmlformats.org/officeDocument/2006/relationships/slideMaster" Target="/ppt/slideMasters/slideMaster1.xml" Id="R7852bad44dad4629" /><Relationship Type="http://schemas.openxmlformats.org/officeDocument/2006/relationships/notesMaster" Target="/ppt/notesMasters/notesMaster1.xml" Id="R09f996968bf94a0c" /><Relationship Type="http://schemas.openxmlformats.org/officeDocument/2006/relationships/presProps" Target="/ppt/presProps.xml" Id="Rb5b923f745d84cb0" /><Relationship Type="http://schemas.openxmlformats.org/officeDocument/2006/relationships/tableStyles" Target="/ppt/tableStyles.xml" Id="Rdf5f26fa1eb24bd9" /><Relationship Type="http://schemas.openxmlformats.org/officeDocument/2006/relationships/slide" Target="/ppt/slides/slide1.xml" Id="R924975a7191a4985" /><Relationship Type="http://schemas.openxmlformats.org/officeDocument/2006/relationships/slide" Target="/ppt/slides/slide2.xml" Id="Rda40faadb0eb4811" /><Relationship Type="http://schemas.openxmlformats.org/officeDocument/2006/relationships/slide" Target="/ppt/slides/slide3.xml" Id="R42b2d9d4d3c6431f" /><Relationship Type="http://schemas.openxmlformats.org/officeDocument/2006/relationships/slide" Target="/ppt/slides/slide4.xml" Id="R96d881e956ea4e84" /><Relationship Type="http://schemas.openxmlformats.org/officeDocument/2006/relationships/slide" Target="/ppt/slides/slide5.xml" Id="R5daa327fbf6b4993" /><Relationship Type="http://schemas.openxmlformats.org/officeDocument/2006/relationships/slide" Target="/ppt/slides/slide6.xml" Id="R60f731ccdc5e4124" /><Relationship Type="http://schemas.openxmlformats.org/officeDocument/2006/relationships/slide" Target="/ppt/slides/slide7.xml" Id="Ra6c78f11ccab4de4" /><Relationship Type="http://schemas.openxmlformats.org/officeDocument/2006/relationships/slide" Target="/ppt/slides/slide8.xml" Id="R68b0c8c856ec48d8" /><Relationship Type="http://schemas.openxmlformats.org/officeDocument/2006/relationships/slide" Target="/ppt/slides/slide9.xml" Id="R9977feb91f6e464e" /><Relationship Type="http://schemas.openxmlformats.org/officeDocument/2006/relationships/slide" Target="/ppt/slides/slide10.xml" Id="R5a520ad15e304cb6" /><Relationship Type="http://schemas.openxmlformats.org/officeDocument/2006/relationships/slide" Target="/ppt/slides/slide11.xml" Id="R623125a18628497f" /><Relationship Type="http://schemas.openxmlformats.org/officeDocument/2006/relationships/slide" Target="/ppt/slides/slide12.xml" Id="R042a484e6d8e47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ed33c794de42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ourceLens">
  <a:themeElements>
    <a:clrScheme name="SourceLen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ourceLen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001ecbc835424c" /><Relationship Type="http://schemas.openxmlformats.org/officeDocument/2006/relationships/notesMaster" Target="/ppt/notesMasters/notesMaster1.xml" Id="R4b0566c159404a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6987eb35c8411d" /><Relationship Type="http://schemas.openxmlformats.org/officeDocument/2006/relationships/notesMaster" Target="/ppt/notesMasters/notesMaster1.xml" Id="Rc96bb88d8c2545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6825faee5f432c" /><Relationship Type="http://schemas.openxmlformats.org/officeDocument/2006/relationships/notesMaster" Target="/ppt/notesMasters/notesMaster1.xml" Id="R40703b6be7d94d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f5f11d21614352" /><Relationship Type="http://schemas.openxmlformats.org/officeDocument/2006/relationships/notesMaster" Target="/ppt/notesMasters/notesMaster1.xml" Id="Rc82cffb436b040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3bb78b52344e28" /><Relationship Type="http://schemas.openxmlformats.org/officeDocument/2006/relationships/notesMaster" Target="/ppt/notesMasters/notesMaster1.xml" Id="Rfc5ee15876854c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71dc69085d4ae3" /><Relationship Type="http://schemas.openxmlformats.org/officeDocument/2006/relationships/notesMaster" Target="/ppt/notesMasters/notesMaster1.xml" Id="R4aa554a205844f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e3313c7f9d4421" /><Relationship Type="http://schemas.openxmlformats.org/officeDocument/2006/relationships/notesMaster" Target="/ppt/notesMasters/notesMaster1.xml" Id="R29a8ffba8dc34d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71b37fee264725" /><Relationship Type="http://schemas.openxmlformats.org/officeDocument/2006/relationships/notesMaster" Target="/ppt/notesMasters/notesMaster1.xml" Id="R46341d7d226a48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0579f71ed34428" /><Relationship Type="http://schemas.openxmlformats.org/officeDocument/2006/relationships/notesMaster" Target="/ppt/notesMasters/notesMaster1.xml" Id="R606e6d7884c24a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b4ebedd7fa4cbf" /><Relationship Type="http://schemas.openxmlformats.org/officeDocument/2006/relationships/notesMaster" Target="/ppt/notesMasters/notesMaster1.xml" Id="R2e7bd5e9f6d144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c493edb7e44aaf" /><Relationship Type="http://schemas.openxmlformats.org/officeDocument/2006/relationships/notesMaster" Target="/ppt/notesMasters/notesMaster1.xml" Id="R2950f75928e646d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c7ffcff126487b" /><Relationship Type="http://schemas.openxmlformats.org/officeDocument/2006/relationships/notesMaster" Target="/ppt/notesMasters/notesMaster1.xml" Id="R36df82cfafae43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Charge While You Shop public demo</a:t>
            </a:r>
          </a:p>
          <a:p xmlns:a="http://schemas.openxmlformats.org/drawingml/2006/main">
            <a:r>
              <a:t>docs/demo/README.md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docs/demo/source-research.md</a:t>
            </a:r>
          </a:p>
          <a:p xmlns:a="http://schemas.openxmlformats.org/drawingml/2006/main">
            <a:r>
              <a:t>https://www.mdpi.com/1996-1073/14/15/4598</a:t>
            </a:r>
          </a:p>
          <a:p xmlns:a="http://schemas.openxmlformats.org/drawingml/2006/main">
            <a:r>
              <a:t>https://publications.jrc.ec.europa.eu/repository/handle/JRC133895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docs/demo/assets/04-web-search-en.png</a:t>
            </a:r>
          </a:p>
          <a:p xmlns:a="http://schemas.openxmlformats.org/drawingml/2006/main">
            <a:r>
              <a:t>docs/demo/source-research.md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docs/demo/outputs/en/index.json</a:t>
            </a:r>
          </a:p>
          <a:p xmlns:a="http://schemas.openxmlformats.org/drawingml/2006/main">
            <a:r>
              <a:t>docs/demo/outputs/fa/index.json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docs/retrieval-benchmark.md</a:t>
            </a:r>
          </a:p>
          <a:p xmlns:a="http://schemas.openxmlformats.org/drawingml/2006/main">
            <a:r>
              <a:t>docs/demo/assets/03-source-cards-en.png</a:t>
            </a:r>
          </a:p>
          <a:p xmlns:a="http://schemas.openxmlformats.org/drawingml/2006/main">
            <a:r>
              <a:t>docs/demo/assets/10-report-en.png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Studio live-event stream</a:t>
            </a:r>
          </a:p>
          <a:p xmlns:a="http://schemas.openxmlformats.org/drawingml/2006/main">
            <a:r>
              <a:t>artifact status, retry, cancellation, and restart recovery 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docs/demo/outputs/en/index.json</a:t>
            </a:r>
          </a:p>
          <a:p xmlns:a="http://schemas.openxmlformats.org/drawingml/2006/main">
            <a:r>
              <a:t>docs/demo/outputs/fa/index.json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https://github.com/msmahdinejad/SourceLens/raw/main/docs/demo/outputs/fa/charge-while-you-shop-slide-deck.pptx</a:t>
            </a:r>
          </a:p>
          <a:p xmlns:a="http://schemas.openxmlformats.org/drawingml/2006/main">
            <a:r>
              <a:t>https://github.com/msmahdinejad/SourceLens/raw/main/docs/demo/outputs/fa/charge-while-you-shop-video-overview.mp4</a:t>
            </a:r>
          </a:p>
          <a:p xmlns:a="http://schemas.openxmlformats.org/drawingml/2006/main">
            <a:r>
              <a:t>https://www.pexels.com/license/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scripts/validate_public_demo.py</a:t>
            </a:r>
          </a:p>
          <a:p xmlns:a="http://schemas.openxmlformats.org/drawingml/2006/main">
            <a:r>
              <a:t>docs/retrieval-benchmark.md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docs/demo/outputs/fa/charge-while-you-shop-audio-overview.mp3</a:t>
            </a:r>
          </a:p>
          <a:p xmlns:a="http://schemas.openxmlformats.org/drawingml/2006/main">
            <a:r>
              <a:t>docs/demo/outputs/fa/charge-while-you-shop-audio-overview-transcript.txt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scripts/validate_public_demo.py</a:t>
            </a:r>
          </a:p>
          <a:p xmlns:a="http://schemas.openxmlformats.org/drawingml/2006/main">
            <a:r>
              <a:t>docs/retrieval-benchmark.md</a:t>
            </a:r>
          </a:p>
          <a:p xmlns:a="http://schemas.openxmlformats.org/drawingml/2006/main">
            <a:r>
              <a:t>THIRD_PARTY_LICENSES.md</a:t>
            </a:r>
          </a:p>
          <a:p xmlns:a="http://schemas.openxmlformats.org/drawingml/2006/main">
            <a:r>
              <a:t>.github/workflows/ci.yml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SourceLens final demo run, 2026-08-10</a:t>
            </a:r>
          </a:p>
          <a:p xmlns:a="http://schemas.openxmlformats.org/drawingml/2006/main">
            <a:r>
              <a:t>docs/demo/README.md</a:t>
            </a:r>
          </a:p>
          <a:p xmlns:a="http://schemas.openxmlformats.org/drawingml/2006/main">
            <a:r>
              <a:t>docs/demo/README.fa.md</a:t>
            </a:r>
          </a:p>
          <a:p xmlns:a="http://schemas.openxmlformats.org/drawingml/2006/main">
            <a:r>
              <a:t>docs/demo/source-research.md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44845c58c42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153f9b8a1d4523" /><Relationship Type="http://schemas.openxmlformats.org/officeDocument/2006/relationships/slideLayout" Target="/ppt/slideLayouts/slideLayout1.xml" Id="Rd0f54fe73de34f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f54fe73de34f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SourceLens">
  <a:themeElements>
    <a:clrScheme name="SourceLen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ourceLen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7da136d91461e" /><Relationship Type="http://schemas.openxmlformats.org/officeDocument/2006/relationships/image" Target="/ppt/media/image.jpeg" Id="R278a2e2d1ddc4573" /><Relationship Type="http://schemas.openxmlformats.org/officeDocument/2006/relationships/notesSlide" Target="/ppt/notesSlides/notesSlide1.xml" Id="R85651c6c60f74f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3feaebf8f4e88" /><Relationship Type="http://schemas.openxmlformats.org/officeDocument/2006/relationships/image" Target="/ppt/media/image2.jpeg" Id="R7e960a2604024221" /><Relationship Type="http://schemas.openxmlformats.org/officeDocument/2006/relationships/notesSlide" Target="/ppt/notesSlides/notesSlide2.xml" Id="Rea941fa1ba9e4b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a192cc1234578" /><Relationship Type="http://schemas.openxmlformats.org/officeDocument/2006/relationships/image" Target="/ppt/media/image3.jpeg" Id="Reae2cabff49a4ed9" /><Relationship Type="http://schemas.openxmlformats.org/officeDocument/2006/relationships/notesSlide" Target="/ppt/notesSlides/notesSlide3.xml" Id="R8e601519a32244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a9a78c0074b59" /><Relationship Type="http://schemas.openxmlformats.org/officeDocument/2006/relationships/image" Target="/ppt/media/image4.jpeg" Id="R1553ad4ab99742ed" /><Relationship Type="http://schemas.openxmlformats.org/officeDocument/2006/relationships/image" Target="/ppt/media/image5.jpeg" Id="Rc9cb73b2ab2d46c4" /><Relationship Type="http://schemas.openxmlformats.org/officeDocument/2006/relationships/notesSlide" Target="/ppt/notesSlides/notesSlide4.xml" Id="R3aecf7f3f8fe45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38dc0c94b484a" /><Relationship Type="http://schemas.openxmlformats.org/officeDocument/2006/relationships/image" Target="/ppt/media/image6.jpeg" Id="Rf871bec448b94a93" /><Relationship Type="http://schemas.openxmlformats.org/officeDocument/2006/relationships/image" Target="/ppt/media/image7.jpeg" Id="R658b2d9f03d34ec5" /><Relationship Type="http://schemas.openxmlformats.org/officeDocument/2006/relationships/notesSlide" Target="/ppt/notesSlides/notesSlide5.xml" Id="R7c016993d10648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c71ba41ee41ee" /><Relationship Type="http://schemas.openxmlformats.org/officeDocument/2006/relationships/image" Target="/ppt/media/image8.jpeg" Id="R2caadfa21b2349fb" /><Relationship Type="http://schemas.openxmlformats.org/officeDocument/2006/relationships/image" Target="/ppt/media/image9.jpeg" Id="R1e2d8ca88dcf4738" /><Relationship Type="http://schemas.openxmlformats.org/officeDocument/2006/relationships/notesSlide" Target="/ppt/notesSlides/notesSlide6.xml" Id="R56bf398d087840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14454155f475c" /><Relationship Type="http://schemas.openxmlformats.org/officeDocument/2006/relationships/notesSlide" Target="/ppt/notesSlides/notesSlide7.xml" Id="Redb5c1e818394c71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7d6f46be19543ce" /><Relationship Type="http://schemas.openxmlformats.org/officeDocument/2006/relationships/image" Target="/ppt/media/image.png" Id="R2034e2c1c8364b4e" /><Relationship Type="http://schemas.openxmlformats.org/officeDocument/2006/relationships/image" Target="/ppt/media/image10.jpeg" Id="R4f72e4e425434342" /><Relationship Type="http://schemas.openxmlformats.org/officeDocument/2006/relationships/notesSlide" Target="/ppt/notesSlides/notesSlide8.xml" Id="R0cb32dc8403c4432" /><Relationship Id="rId1" Type="http://schemas.openxmlformats.org/officeDocument/2006/relationships/hyperlink" Target="https://github.com/msmahdinejad/SourceLens/raw/main/docs/demo/outputs/fa/charge-while-you-shop-slide-deck.pptx" TargetMode="External" /><Relationship Id="rId2" Type="http://schemas.openxmlformats.org/officeDocument/2006/relationships/hyperlink" Target="https://github.com/msmahdinejad/SourceLens/raw/main/docs/demo/outputs/fa/charge-while-you-shop-video-overview.mp4" TargetMode="External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ef807dbb8044ff" /><Relationship Type="http://schemas.openxmlformats.org/officeDocument/2006/relationships/notesSlide" Target="/ppt/notesSlides/notesSlide9.xml" Id="R29a0023c6b6245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8ac6721b340aa" /><Relationship Type="http://schemas.openxmlformats.org/officeDocument/2006/relationships/notesSlide" Target="/ppt/notesSlides/notesSlide10.xml" Id="R96b411d24f2d4c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9a72532ba4bfe" /><Relationship Type="http://schemas.openxmlformats.org/officeDocument/2006/relationships/notesSlide" Target="/ppt/notesSlides/notesSlide11.xml" Id="Ra5481d6e1beb42c1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322ed90f5894892" /><Relationship Type="http://schemas.openxmlformats.org/officeDocument/2006/relationships/notesSlide" Target="/ppt/notesSlides/notesSlide12.xml" Id="Rd405b53599a547dc" /><Relationship Id="rId1" Type="http://schemas.openxmlformats.org/officeDocument/2006/relationships/hyperlink" Target="https://github.com/msmahdinejad/SourceLens" TargetMode="External" /></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A24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7" name=""/>
          <p:cNvPicPr>
            <a:picLocks noChangeAspect="1"/>
          </p:cNvPicPr>
          <p:nvPr/>
        </p:nvPicPr>
        <p:blipFill>
          <a:blip r:embed="R278a2e2d1ddc4573"/>
          <a:srcRect l="27344" t="0" r="27344" b="0"/>
          <a:stretch>
            <a:fillRect l="0" t="0" r="0" b="0"/>
          </a:stretch>
        </p:blipFill>
        <p:spPr>
          <a:xfrm>
            <a:off x="0" y="0"/>
            <a:ext cx="5524500" cy="6858000"/>
          </a:xfrm>
          <a:prstGeom prst="roundRect">
            <a:avLst>
              <a:gd name="adj" fmla="val 2069"/>
            </a:avLst>
          </a:prstGeom>
        </p:spPr>
      </p:pic>
      <p:sp>
        <p:nvSpPr>
          <p:cNvPr id="2" name="">
            <a:extLst>
              <a:ext uri="{FF2B5EF4-FFF2-40B4-BE49-F238E27FC236}">
                <ns3:creationId id="{16BB1A0A-6848-46A8-8334-C3178B4371F0}"/>
              </a:ext>
            </a:extLst>
          </p:cNvPr>
          <p:cNvSpPr>
            <a:spLocks noGrp="1"/>
          </p:cNvSpPr>
          <p:nvPr/>
        </p:nvSpPr>
        <p:spPr>
          <a:xfrm>
            <a:off x="5524500" y="0"/>
            <a:ext cx="6667500" cy="6858000"/>
          </a:xfrm>
          <a:prstGeom prst="rect">
            <a:avLst/>
          </a:prstGeom>
          <a:solidFill>
            <a:srgbClr val="071A24"/>
          </a:solidFill>
          <a:ln w="0">
            <a:noFill/>
            <a:prstDash val="solid"/>
          </a:ln>
        </p:spPr>
      </p:sp>
      <p:sp>
        <p:nvSpPr>
          <p:cNvPr id="3" name="">
            <a:extLst>
              <a:ext uri="{FF2B5EF4-FFF2-40B4-BE49-F238E27FC236}">
                <ns3:creationId id="{739604B3-97DC-4F0A-B45A-E3B17EA93400}"/>
              </a:ext>
            </a:extLst>
          </p:cNvPr>
          <p:cNvSpPr>
            <a:spLocks noGrp="1"/>
          </p:cNvSpPr>
          <p:nvPr/>
        </p:nvSpPr>
        <p:spPr>
          <a:xfrm>
            <a:off x="11353800" y="876300"/>
            <a:ext cx="152400" cy="104775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3:creationId id="{6ED58C88-76C3-4C7B-B853-85AEF2B09BD9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523875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3600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3600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ارزیابی نهایی سامانه </a:t>
            </a:r>
            <a:r>
              <a:rPr sz="3600" b="1" lang="en-US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SourceLens</a:t>
            </a:r>
            <a:endParaRPr lang="fa-IR"/>
          </a:p>
        </p:txBody>
      </p:sp>
      <p:sp>
        <p:nvSpPr>
          <p:cNvPr id="5" name="">
            <a:extLst>
              <a:ext uri="{FF2B5EF4-FFF2-40B4-BE49-F238E27FC236}">
                <ns3:creationId id="{B87D4557-8154-458E-AA17-47BAADAC1DFD}"/>
              </a:ext>
            </a:extLst>
          </p:cNvPr>
          <p:cNvSpPr>
            <a:spLocks noGrp="1"/>
          </p:cNvSpPr>
          <p:nvPr/>
        </p:nvSpPr>
        <p:spPr>
          <a:xfrm>
            <a:off x="6096000" y="3371850"/>
            <a:ext cx="52387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650" b="0" lang="fa-IR">
                <a:solidFill>
                  <a:srgbClr val="F4EEE2"/>
                </a:solidFill>
                <a:latin typeface="Kalameh"/>
                <a:ea typeface="Kalameh"/>
                <a:cs typeface="Kalameh"/>
              </a:defRPr>
            </a:pPr>
            <a:r>
              <a:rPr sz="1650" b="0" lang="fa-IR">
                <a:solidFill>
                  <a:srgbClr val="F4EEE2"/>
                </a:solidFill>
                <a:latin typeface="Kalameh"/>
                <a:ea typeface="Kalameh"/>
                <a:cs typeface="Kalameh"/>
              </a:rPr>
              <a:t>آزمون واقعی دوزبانه؛ از منابع معتبر تا ۲۶ خروجی کاربردی</a:t>
            </a:r>
            <a:endParaRPr lang="fa-IR"/>
          </a:p>
        </p:txBody>
      </p:sp>
      <p:sp>
        <p:nvSpPr>
          <p:cNvPr id="6" name="">
            <a:extLst>
              <a:ext uri="{FF2B5EF4-FFF2-40B4-BE49-F238E27FC236}">
                <ns3:creationId id="{838DCD7D-5886-48A1-892D-2001593BF001}"/>
              </a:ext>
            </a:extLst>
          </p:cNvPr>
          <p:cNvSpPr>
            <a:spLocks noGrp="1"/>
          </p:cNvSpPr>
          <p:nvPr/>
        </p:nvSpPr>
        <p:spPr>
          <a:xfrm>
            <a:off x="6096000" y="5334000"/>
            <a:ext cx="523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200" b="0" lang="fa-IR">
                <a:solidFill>
                  <a:srgbClr val="2ED3B7"/>
                </a:solidFill>
                <a:latin typeface="Kalameh"/>
                <a:ea typeface="Kalameh"/>
                <a:cs typeface="Kalameh"/>
              </a:defRPr>
            </a:pPr>
            <a:r>
              <a:rPr sz="1200" b="0" lang="fa-IR">
                <a:solidFill>
                  <a:srgbClr val="2ED3B7"/>
                </a:solidFill>
                <a:latin typeface="Kalameh"/>
                <a:ea typeface="Kalameh"/>
                <a:cs typeface="Kalameh"/>
              </a:rPr>
              <a:t>شارژ هنگام خرید · ۱۹ مرداد ۱۴۰۵</a:t>
            </a:r>
            <a:endParaRPr lang="fa-IR"/>
          </a:p>
        </p:txBody>
      </p:sp>
    </p:spTree>
    <p:extLst>
      <p:ext uri="{BB962C8B-B14F-4D97-AF65-F5344CB8AC3E}">
        <ns4:creationId val="2074827031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ACFC5932-FA26-4C83-892D-DD8963E308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E279F1C9-CF44-414F-9A9A-CE6C3D31AD91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7431FE7C-A790-45E0-AA3C-B2A9E1112F69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هفت منبع و یک مرز شفاف برای شواهد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A0DBFFDA-51E4-4CC4-8989-79320D65E30E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FE56026-9248-4959-B3E6-00A4F4C9AA12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02</a:t>
            </a:r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 r:embed="R7e960a2604024221"/>
          <a:srcRect l="6828" t="0" r="6828" b="0"/>
          <a:stretch>
            <a:fillRect l="0" t="0" r="0" b="0"/>
          </a:stretch>
        </p:blipFill>
        <p:spPr>
          <a:xfrm>
            <a:off x="685800" y="1600200"/>
            <a:ext cx="6286500" cy="4095750"/>
          </a:xfrm>
          <a:prstGeom prst="roundRect">
            <a:avLst>
              <a:gd name="adj" fmla="val 2791"/>
            </a:avLst>
          </a:prstGeom>
        </p:spPr>
      </p:pic>
      <p:sp>
        <p:nvSpPr>
          <p:cNvPr id="7" name="">
            <a:extLst>
              <a:ext uri="{FF2B5EF4-FFF2-40B4-BE49-F238E27FC236}">
                <ns2:creationId id="{5070B37D-1FE5-4FF1-B3DB-CD30A11B7D3F}"/>
              </a:ext>
            </a:extLst>
          </p:cNvPr>
          <p:cNvSpPr>
            <a:spLocks noGrp="1"/>
          </p:cNvSpPr>
          <p:nvPr/>
        </p:nvSpPr>
        <p:spPr>
          <a:xfrm>
            <a:off x="7334250" y="1600200"/>
            <a:ext cx="18669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DBA9E965-9581-49E3-B460-89259B813FE1}"/>
              </a:ext>
            </a:extLst>
          </p:cNvPr>
          <p:cNvSpPr>
            <a:spLocks noGrp="1"/>
          </p:cNvSpPr>
          <p:nvPr/>
        </p:nvSpPr>
        <p:spPr>
          <a:xfrm>
            <a:off x="7505700" y="1733550"/>
            <a:ext cx="152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5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25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۷</a:t>
            </a:r>
            <a:endParaRPr lang="fa-IR"/>
          </a:p>
        </p:txBody>
      </p:sp>
      <p:sp>
        <p:nvSpPr>
          <p:cNvPr id="9" name="">
            <a:extLst>
              <a:ext uri="{FF2B5EF4-FFF2-40B4-BE49-F238E27FC236}">
                <ns2:creationId id="{4DCA0769-C429-42BE-91BB-EEA7EDACCBB8}"/>
              </a:ext>
            </a:extLst>
          </p:cNvPr>
          <p:cNvSpPr>
            <a:spLocks noGrp="1"/>
          </p:cNvSpPr>
          <p:nvPr/>
        </p:nvSpPr>
        <p:spPr>
          <a:xfrm>
            <a:off x="7505700" y="2228850"/>
            <a:ext cx="152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منبع آماده</a:t>
            </a:r>
            <a:endParaRPr lang="fa-IR"/>
          </a:p>
        </p:txBody>
      </p:sp>
      <p:sp>
        <p:nvSpPr>
          <p:cNvPr id="10" name="">
            <a:extLst>
              <a:ext uri="{FF2B5EF4-FFF2-40B4-BE49-F238E27FC236}">
                <ns2:creationId id="{E178E990-CE64-4C9F-B5CC-21409900111E}"/>
              </a:ext>
            </a:extLst>
          </p:cNvPr>
          <p:cNvSpPr>
            <a:spLocks noGrp="1"/>
          </p:cNvSpPr>
          <p:nvPr/>
        </p:nvSpPr>
        <p:spPr>
          <a:xfrm>
            <a:off x="9429750" y="1600200"/>
            <a:ext cx="207645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1DF3E29E-068A-4F25-BCD9-90219F482C93}"/>
              </a:ext>
            </a:extLst>
          </p:cNvPr>
          <p:cNvSpPr>
            <a:spLocks noGrp="1"/>
          </p:cNvSpPr>
          <p:nvPr/>
        </p:nvSpPr>
        <p:spPr>
          <a:xfrm>
            <a:off x="9601200" y="1733550"/>
            <a:ext cx="1733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5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25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۲۳۶</a:t>
            </a:r>
            <a:endParaRPr lang="fa-IR"/>
          </a:p>
        </p:txBody>
      </p:sp>
      <p:sp>
        <p:nvSpPr>
          <p:cNvPr id="12" name="">
            <a:extLst>
              <a:ext uri="{FF2B5EF4-FFF2-40B4-BE49-F238E27FC236}">
                <ns2:creationId id="{7CA14939-916E-41AA-BD53-D1103D218712}"/>
              </a:ext>
            </a:extLst>
          </p:cNvPr>
          <p:cNvSpPr>
            <a:spLocks noGrp="1"/>
          </p:cNvSpPr>
          <p:nvPr/>
        </p:nvSpPr>
        <p:spPr>
          <a:xfrm>
            <a:off x="9601200" y="2228850"/>
            <a:ext cx="1733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قطعه نمایه‌شده</a:t>
            </a:r>
            <a:endParaRPr lang="fa-IR"/>
          </a:p>
        </p:txBody>
      </p:sp>
      <p:sp>
        <p:nvSpPr>
          <p:cNvPr id="13" name="">
            <a:extLst>
              <a:ext uri="{FF2B5EF4-FFF2-40B4-BE49-F238E27FC236}">
                <ns2:creationId id="{8D279BFE-71AF-4C98-8D45-A5EE4F6B8DFF}"/>
              </a:ext>
            </a:extLst>
          </p:cNvPr>
          <p:cNvSpPr>
            <a:spLocks noGrp="1"/>
          </p:cNvSpPr>
          <p:nvPr/>
        </p:nvSpPr>
        <p:spPr>
          <a:xfrm>
            <a:off x="7334250" y="3143250"/>
            <a:ext cx="417195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575" b="0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575" b="0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دو مقاله با مجوز باز و پنج منبع رسمی وب از مسیرهای بارگذاری و جست‌وجوی خود برنامه اضافه شدند.</a:t>
            </a:r>
            <a:endParaRPr lang="fa-IR"/>
          </a:p>
        </p:txBody>
      </p:sp>
      <p:sp>
        <p:nvSpPr>
          <p:cNvPr id="14" name="">
            <a:extLst>
              <a:ext uri="{FF2B5EF4-FFF2-40B4-BE49-F238E27FC236}">
                <ns2:creationId id="{C2D58457-FE6C-4CB5-A1BF-7D7B4EEB72B5}"/>
              </a:ext>
            </a:extLst>
          </p:cNvPr>
          <p:cNvSpPr>
            <a:spLocks noGrp="1"/>
          </p:cNvSpPr>
          <p:nvPr/>
        </p:nvSpPr>
        <p:spPr>
          <a:xfrm>
            <a:off x="7334250" y="5010150"/>
            <a:ext cx="4171950" cy="685800"/>
          </a:xfrm>
          <a:prstGeom prst="roundRect">
            <a:avLst>
              <a:gd name="adj" fmla="val 16667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582DE6F-C496-4FEC-AED7-1A010AE36452}"/>
              </a:ext>
            </a:extLst>
          </p:cNvPr>
          <p:cNvSpPr>
            <a:spLocks noGrp="1"/>
          </p:cNvSpPr>
          <p:nvPr/>
        </p:nvSpPr>
        <p:spPr>
          <a:xfrm>
            <a:off x="7562850" y="5124450"/>
            <a:ext cx="3714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425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425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دو مقاله باز • پنج منبع رسمی وب</a:t>
            </a:r>
            <a:endParaRPr lang="fa-IR"/>
          </a:p>
        </p:txBody>
      </p:sp>
    </p:spTree>
    <p:extLst>
      <p:ext uri="{BB962C8B-B14F-4D97-AF65-F5344CB8AC3E}">
        <ns4:creationId val="1475721869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" name="">
            <a:extLst>
              <a:ext uri="{FF2B5EF4-FFF2-40B4-BE49-F238E27FC236}">
                <ns2:creationId id="{4783321F-B1DE-487B-8C79-56E19105F1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D7CD502D-83CD-4979-B40A-53AE15B7BE28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97F3707B-0175-43BD-ABB1-1D43742ECC3F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جست‌وجوی وب به منبع پژوهشی تبدیل می‌شود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2CC14FE0-6429-44EC-B8B6-6545F21B2B0D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C4566A1-BBC8-4F7D-BD21-66EE5A104ABF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03</a:t>
            </a:r>
          </a:p>
        </p:txBody>
      </p:sp>
      <p:pic>
        <p:nvPicPr>
          <p:cNvPr id="15" name=""/>
          <p:cNvPicPr>
            <a:picLocks noChangeAspect="1"/>
          </p:cNvPicPr>
          <p:nvPr/>
        </p:nvPicPr>
        <p:blipFill>
          <a:blip r:embed="Reae2cabff49a4ed9"/>
          <a:stretch/>
        </p:blipFill>
        <p:spPr>
          <a:xfrm>
            <a:off x="685800" y="1766888"/>
            <a:ext cx="6858000" cy="3857625"/>
          </a:xfrm>
          <a:prstGeom prst="roundRect">
            <a:avLst>
              <a:gd name="adj" fmla="val 2703"/>
            </a:avLst>
          </a:prstGeom>
        </p:spPr>
      </p:pic>
      <p:sp>
        <p:nvSpPr>
          <p:cNvPr id="7" name="">
            <a:extLst>
              <a:ext uri="{FF2B5EF4-FFF2-40B4-BE49-F238E27FC236}">
                <ns2:creationId id="{616FE2A6-EDAB-47C0-A0CE-0933EFA9D892}"/>
              </a:ext>
            </a:extLst>
          </p:cNvPr>
          <p:cNvSpPr>
            <a:spLocks noGrp="1"/>
          </p:cNvSpPr>
          <p:nvPr/>
        </p:nvSpPr>
        <p:spPr>
          <a:xfrm>
            <a:off x="7924800" y="1676400"/>
            <a:ext cx="3581400" cy="3124200"/>
          </a:xfrm>
          <a:prstGeom prst="roundRect">
            <a:avLst>
              <a:gd name="adj" fmla="val 3659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482B32D4-C02F-4EB6-8F41-43A6781AA49C}"/>
              </a:ext>
            </a:extLst>
          </p:cNvPr>
          <p:cNvSpPr>
            <a:spLocks noGrp="1"/>
          </p:cNvSpPr>
          <p:nvPr/>
        </p:nvSpPr>
        <p:spPr>
          <a:xfrm>
            <a:off x="8210550" y="1981200"/>
            <a:ext cx="3009900" cy="2343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575" b="0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57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برنامه وب را جست‌وجو کرد، منابع منتخب را دریافت کرد و متن آن‌ها را کنار مقاله‌های بارگذاری‌شده نمایه ساخت.</a:t>
            </a:r>
            <a:endParaRPr lang="fa-IR"/>
          </a:p>
        </p:txBody>
      </p:sp>
      <p:sp>
        <p:nvSpPr>
          <p:cNvPr id="9" name="">
            <a:extLst>
              <a:ext uri="{FF2B5EF4-FFF2-40B4-BE49-F238E27FC236}">
                <ns2:creationId id="{509BDF85-5717-4D45-B983-FAE9F8561152}"/>
              </a:ext>
            </a:extLst>
          </p:cNvPr>
          <p:cNvSpPr>
            <a:spLocks noGrp="1"/>
          </p:cNvSpPr>
          <p:nvPr/>
        </p:nvSpPr>
        <p:spPr>
          <a:xfrm>
            <a:off x="7924800" y="5067300"/>
            <a:ext cx="3581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20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20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جست‌وجو · انتخاب · استخراج · نمایه‌سازی</a:t>
            </a:r>
            <a:endParaRPr lang="fa-IR"/>
          </a:p>
        </p:txBody>
      </p:sp>
    </p:spTree>
    <p:extLst>
      <p:ext uri="{BB962C8B-B14F-4D97-AF65-F5344CB8AC3E}">
        <ns4:creationId val="1782140811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" name="">
            <a:extLst>
              <a:ext uri="{FF2B5EF4-FFF2-40B4-BE49-F238E27FC236}">
                <ns2:creationId id="{2FB1ABC4-1EB7-4D0D-AF1F-98D7E1E857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36D72EB8-3BF9-43EB-B018-7DFC1D57A8AB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8A75A582-91FD-4F7F-9F86-5C5B3B709A69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استودیو یک مجموعه منبع را به خروجی‌های متعدد تبدیل می‌کند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71E1893F-9C44-4FF9-A8AE-5315B3B9C19B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AD57116-0302-478E-BE3A-3CC2E838AAA3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04</a:t>
            </a:r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 r:embed="R1553ad4ab99742ed"/>
          <a:srcRect l="4620" t="0" r="4620" b="0"/>
          <a:stretch>
            <a:fillRect l="0" t="0" r="0" b="0"/>
          </a:stretch>
        </p:blipFill>
        <p:spPr>
          <a:xfrm>
            <a:off x="685800" y="1619250"/>
            <a:ext cx="5010150" cy="3105150"/>
          </a:xfrm>
          <a:prstGeom prst="roundRect">
            <a:avLst>
              <a:gd name="adj" fmla="val 3681"/>
            </a:avLst>
          </a:prstGeom>
        </p:spPr>
      </p:pic>
      <p:pic>
        <p:nvPicPr>
          <p:cNvPr id="15" name=""/>
          <p:cNvPicPr>
            <a:picLocks noChangeAspect="1"/>
          </p:cNvPicPr>
          <p:nvPr/>
        </p:nvPicPr>
        <p:blipFill>
          <a:blip r:embed="Rc9cb73b2ab2d46c4"/>
          <a:srcRect l="134" t="0" r="134" b="0"/>
          <a:stretch>
            <a:fillRect l="0" t="0" r="0" b="0"/>
          </a:stretch>
        </p:blipFill>
        <p:spPr>
          <a:xfrm>
            <a:off x="6000750" y="1619250"/>
            <a:ext cx="5505450" cy="3105150"/>
          </a:xfrm>
          <a:prstGeom prst="roundRect">
            <a:avLst>
              <a:gd name="adj" fmla="val 3681"/>
            </a:avLst>
          </a:prstGeom>
        </p:spPr>
      </p:pic>
      <p:sp>
        <p:nvSpPr>
          <p:cNvPr id="8" name="">
            <a:extLst>
              <a:ext uri="{FF2B5EF4-FFF2-40B4-BE49-F238E27FC236}">
                <ns2:creationId id="{21ECFDC9-E3B3-4311-800F-4563E097BD02}"/>
              </a:ext>
            </a:extLst>
          </p:cNvPr>
          <p:cNvSpPr>
            <a:spLocks noGrp="1"/>
          </p:cNvSpPr>
          <p:nvPr/>
        </p:nvSpPr>
        <p:spPr>
          <a:xfrm>
            <a:off x="685800" y="4972050"/>
            <a:ext cx="10820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500" b="0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500" b="0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همان ۲۳۶ قطعه، هر ۱۳ قالب استودیو را به فارسی و انگلیسی ساخت؛ در مجموع ۲۶ خروجی تولیدشده با برنامه.</a:t>
            </a:r>
            <a:endParaRPr lang="fa-IR"/>
          </a:p>
        </p:txBody>
      </p:sp>
    </p:spTree>
    <p:extLst>
      <p:ext uri="{BB962C8B-B14F-4D97-AF65-F5344CB8AC3E}">
        <ns4:creationId val="877399058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" name="">
            <a:extLst>
              <a:ext uri="{FF2B5EF4-FFF2-40B4-BE49-F238E27FC236}">
                <ns2:creationId id="{844299CB-04A0-4A88-90AF-12891F948C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2BB8BF52-24B3-4547-9830-77D238445729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69E790CB-9446-47CA-8F22-6927F74BB98F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پاسخ مستند؛ از بازیابی تا استناد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46C2FFB5-6523-4C50-9853-7B8239E957A3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7BBE4D2-3F45-434A-9024-B7F5354AFE4F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05</a:t>
            </a:r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 r:embed="Rf871bec448b94a93"/>
          <a:srcRect l="10477" t="0" r="10477" b="0"/>
          <a:stretch>
            <a:fillRect l="0" t="0" r="0" b="0"/>
          </a:stretch>
        </p:blipFill>
        <p:spPr>
          <a:xfrm>
            <a:off x="685800" y="1600200"/>
            <a:ext cx="5219700" cy="3714750"/>
          </a:xfrm>
          <a:prstGeom prst="roundRect">
            <a:avLst>
              <a:gd name="adj" fmla="val 3077"/>
            </a:avLst>
          </a:prstGeom>
        </p:spPr>
      </p:pic>
      <p:pic>
        <p:nvPicPr>
          <p:cNvPr id="15" name=""/>
          <p:cNvPicPr>
            <a:picLocks noChangeAspect="1"/>
          </p:cNvPicPr>
          <p:nvPr/>
        </p:nvPicPr>
        <p:blipFill>
          <a:blip r:embed="R658b2d9f03d34ec5"/>
          <a:srcRect l="9904" t="0" r="9904" b="0"/>
          <a:stretch>
            <a:fillRect l="0" t="0" r="0" b="0"/>
          </a:stretch>
        </p:blipFill>
        <p:spPr>
          <a:xfrm>
            <a:off x="6210300" y="1600200"/>
            <a:ext cx="5295900" cy="3714750"/>
          </a:xfrm>
          <a:prstGeom prst="roundRect">
            <a:avLst>
              <a:gd name="adj" fmla="val 3077"/>
            </a:avLst>
          </a:prstGeom>
        </p:spPr>
      </p:pic>
      <p:sp>
        <p:nvSpPr>
          <p:cNvPr id="8" name="">
            <a:extLst>
              <a:ext uri="{FF2B5EF4-FFF2-40B4-BE49-F238E27FC236}">
                <ns2:creationId id="{247A10C2-DDBC-45B3-A78B-F213EE666517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425" b="0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425" b="0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انتخاب منبع، بازیابی ترکیبی، پاسخ‌گویی و پنل شواهد در یک مرز مشترک اجرا می‌شوند.</a:t>
            </a:r>
            <a:endParaRPr lang="fa-IR"/>
          </a:p>
        </p:txBody>
      </p:sp>
    </p:spTree>
    <p:extLst>
      <p:ext uri="{BB962C8B-B14F-4D97-AF65-F5344CB8AC3E}">
        <ns4:creationId val="548141821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18ADF5F3-B57F-4087-BD54-C25EEBF04B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9B4098F7-8FEC-4C08-97EA-B4B733A851BA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EDB8EB8D-0700-4321-97EF-DCA8C11593E2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فرایند زنده، پایدار و قابل پیگیری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A458F4FB-474F-458A-AEDB-0ABBC26CC543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1E842E9-4F5D-4177-892A-9469D0A39F9D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06</a:t>
            </a:r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 r:embed="R2caadfa21b2349fb"/>
          <a:srcRect l="5964" t="0" r="5964" b="0"/>
          <a:stretch>
            <a:fillRect l="0" t="0" r="0" b="0"/>
          </a:stretch>
        </p:blipFill>
        <p:spPr>
          <a:xfrm>
            <a:off x="685800" y="1600200"/>
            <a:ext cx="5219700" cy="3333750"/>
          </a:xfrm>
          <a:prstGeom prst="roundRect">
            <a:avLst>
              <a:gd name="adj" fmla="val 3429"/>
            </a:avLst>
          </a:prstGeom>
        </p:spPr>
      </p:pic>
      <p:pic>
        <p:nvPicPr>
          <p:cNvPr id="22" name=""/>
          <p:cNvPicPr>
            <a:picLocks noChangeAspect="1"/>
          </p:cNvPicPr>
          <p:nvPr/>
        </p:nvPicPr>
        <p:blipFill>
          <a:blip r:embed="R1e2d8ca88dcf4738"/>
          <a:srcRect l="5321" t="0" r="5321" b="0"/>
          <a:stretch>
            <a:fillRect l="0" t="0" r="0" b="0"/>
          </a:stretch>
        </p:blipFill>
        <p:spPr>
          <a:xfrm>
            <a:off x="6210300" y="1600200"/>
            <a:ext cx="5295900" cy="3333750"/>
          </a:xfrm>
          <a:prstGeom prst="roundRect">
            <a:avLst>
              <a:gd name="adj" fmla="val 3429"/>
            </a:avLst>
          </a:prstGeom>
        </p:spPr>
      </p:pic>
      <p:sp>
        <p:nvSpPr>
          <p:cNvPr id="8" name="">
            <a:extLst>
              <a:ext uri="{FF2B5EF4-FFF2-40B4-BE49-F238E27FC236}">
                <ns2:creationId id="{4F3D0AD4-6814-4D7D-BEF0-6BC3669A3A8C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2476500" cy="609600"/>
          </a:xfrm>
          <a:prstGeom prst="roundRect">
            <a:avLst>
              <a:gd name="adj" fmla="val 18750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9E900C1D-55EA-4697-A70D-1171994625AF}"/>
              </a:ext>
            </a:extLst>
          </p:cNvPr>
          <p:cNvSpPr>
            <a:spLocks noGrp="1"/>
          </p:cNvSpPr>
          <p:nvPr/>
        </p:nvSpPr>
        <p:spPr>
          <a:xfrm>
            <a:off x="838200" y="52959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125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125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رویدادهای زنده و درصد واقعی</a:t>
            </a:r>
            <a:endParaRPr lang="fa-IR"/>
          </a:p>
        </p:txBody>
      </p:sp>
      <p:sp>
        <p:nvSpPr>
          <p:cNvPr id="10" name="">
            <a:extLst>
              <a:ext uri="{FF2B5EF4-FFF2-40B4-BE49-F238E27FC236}">
                <ns2:creationId id="{31734C86-2E03-4A2E-AAD8-6EC8A5B99CB1}"/>
              </a:ext>
            </a:extLst>
          </p:cNvPr>
          <p:cNvSpPr>
            <a:spLocks noGrp="1"/>
          </p:cNvSpPr>
          <p:nvPr/>
        </p:nvSpPr>
        <p:spPr>
          <a:xfrm>
            <a:off x="3390900" y="5219700"/>
            <a:ext cx="24765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C9CFCBEC-8A06-408D-8762-E25C170DDC61}"/>
              </a:ext>
            </a:extLst>
          </p:cNvPr>
          <p:cNvSpPr>
            <a:spLocks noGrp="1"/>
          </p:cNvSpPr>
          <p:nvPr/>
        </p:nvSpPr>
        <p:spPr>
          <a:xfrm>
            <a:off x="3543300" y="52959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125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125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لغو و تلاش دوباره</a:t>
            </a:r>
            <a:endParaRPr lang="fa-IR"/>
          </a:p>
        </p:txBody>
      </p:sp>
      <p:sp>
        <p:nvSpPr>
          <p:cNvPr id="12" name="">
            <a:extLst>
              <a:ext uri="{FF2B5EF4-FFF2-40B4-BE49-F238E27FC236}">
                <ns2:creationId id="{0F87E179-5E1C-43BD-A48C-F29F30AE3E2C}"/>
              </a:ext>
            </a:extLst>
          </p:cNvPr>
          <p:cNvSpPr>
            <a:spLocks noGrp="1"/>
          </p:cNvSpPr>
          <p:nvPr/>
        </p:nvSpPr>
        <p:spPr>
          <a:xfrm>
            <a:off x="6096000" y="5219700"/>
            <a:ext cx="2476500" cy="609600"/>
          </a:xfrm>
          <a:prstGeom prst="roundRect">
            <a:avLst>
              <a:gd name="adj" fmla="val 18750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3E726DF-B09B-4D95-97E1-834582716A54}"/>
              </a:ext>
            </a:extLst>
          </p:cNvPr>
          <p:cNvSpPr>
            <a:spLocks noGrp="1"/>
          </p:cNvSpPr>
          <p:nvPr/>
        </p:nvSpPr>
        <p:spPr>
          <a:xfrm>
            <a:off x="6248400" y="52959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125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125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بازیابی پس از ری‌استارت</a:t>
            </a:r>
            <a:endParaRPr lang="fa-IR"/>
          </a:p>
        </p:txBody>
      </p:sp>
      <p:sp>
        <p:nvSpPr>
          <p:cNvPr id="14" name="">
            <a:extLst>
              <a:ext uri="{FF2B5EF4-FFF2-40B4-BE49-F238E27FC236}">
                <ns2:creationId id="{68BFBA89-CBE5-4904-BBC3-D0BBC48CF0AE}"/>
              </a:ext>
            </a:extLst>
          </p:cNvPr>
          <p:cNvSpPr>
            <a:spLocks noGrp="1"/>
          </p:cNvSpPr>
          <p:nvPr/>
        </p:nvSpPr>
        <p:spPr>
          <a:xfrm>
            <a:off x="8801100" y="5219700"/>
            <a:ext cx="24765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037228B-77E3-4403-8FE8-6901A35CB72F}"/>
              </a:ext>
            </a:extLst>
          </p:cNvPr>
          <p:cNvSpPr>
            <a:spLocks noGrp="1"/>
          </p:cNvSpPr>
          <p:nvPr/>
        </p:nvSpPr>
        <p:spPr>
          <a:xfrm>
            <a:off x="8953500" y="52959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125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125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دانلود و مانیفست کیفیت</a:t>
            </a:r>
            <a:endParaRPr lang="fa-IR"/>
          </a:p>
        </p:txBody>
      </p:sp>
    </p:spTree>
    <p:extLst>
      <p:ext uri="{BB962C8B-B14F-4D97-AF65-F5344CB8AC3E}">
        <ns4:creationId val="11638568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4" name="">
            <a:extLst>
              <a:ext uri="{FF2B5EF4-FFF2-40B4-BE49-F238E27FC236}">
                <ns2:creationId id="{9D5D41C0-F271-477F-8032-B60D97CA76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C448836E-1DD6-4FA8-88B9-3C2185B8B834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48C7F1D7-E5A7-41A6-AA91-3B005C940724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سیزده قالب؛ دو زبان؛ یک مجموعه منبع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B54EF65B-32CC-46D5-AA07-637DED160C1C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1010F49-A22D-4607-9C06-DDE8D5ED6ECD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07</a:t>
            </a:r>
          </a:p>
        </p:txBody>
      </p:sp>
      <p:sp>
        <p:nvSpPr>
          <p:cNvPr id="6" name="">
            <a:extLst>
              <a:ext uri="{FF2B5EF4-FFF2-40B4-BE49-F238E27FC236}">
                <ns2:creationId id="{9F7104D5-DBB6-4D34-B735-433BC2753B72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A37415F-7213-4B73-94E5-CB7E6F1BB51B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مرور صوتی</a:t>
            </a:r>
            <a:endParaRPr lang="fa-IR"/>
          </a:p>
        </p:txBody>
      </p:sp>
      <p:sp>
        <p:nvSpPr>
          <p:cNvPr id="8" name="">
            <a:extLst>
              <a:ext uri="{FF2B5EF4-FFF2-40B4-BE49-F238E27FC236}">
                <ns2:creationId id="{A39DBA50-671F-4807-89CE-3604B6FBCE5E}"/>
              </a:ext>
            </a:extLst>
          </p:cNvPr>
          <p:cNvSpPr>
            <a:spLocks noGrp="1"/>
          </p:cNvSpPr>
          <p:nvPr/>
        </p:nvSpPr>
        <p:spPr>
          <a:xfrm>
            <a:off x="3390900" y="16002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BC1F0DC-2EB5-486E-B955-616A86F443C8}"/>
              </a:ext>
            </a:extLst>
          </p:cNvPr>
          <p:cNvSpPr>
            <a:spLocks noGrp="1"/>
          </p:cNvSpPr>
          <p:nvPr/>
        </p:nvSpPr>
        <p:spPr>
          <a:xfrm>
            <a:off x="3543300" y="17145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گزارش</a:t>
            </a:r>
            <a:endParaRPr lang="fa-IR"/>
          </a:p>
        </p:txBody>
      </p:sp>
      <p:sp>
        <p:nvSpPr>
          <p:cNvPr id="10" name="">
            <a:extLst>
              <a:ext uri="{FF2B5EF4-FFF2-40B4-BE49-F238E27FC236}">
                <ns2:creationId id="{A93022B2-4138-420F-B764-3E27EF32AF6D}"/>
              </a:ext>
            </a:extLst>
          </p:cNvPr>
          <p:cNvSpPr>
            <a:spLocks noGrp="1"/>
          </p:cNvSpPr>
          <p:nvPr/>
        </p:nvSpPr>
        <p:spPr>
          <a:xfrm>
            <a:off x="6096000" y="16002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943FD13-141F-4EC0-B453-82D432B130D9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نقشه مفهومی</a:t>
            </a:r>
            <a:endParaRPr lang="fa-IR"/>
          </a:p>
        </p:txBody>
      </p:sp>
      <p:sp>
        <p:nvSpPr>
          <p:cNvPr id="12" name="">
            <a:extLst>
              <a:ext uri="{FF2B5EF4-FFF2-40B4-BE49-F238E27FC236}">
                <ns2:creationId id="{7BF23624-3BC5-4A30-9760-12AC7584C427}"/>
              </a:ext>
            </a:extLst>
          </p:cNvPr>
          <p:cNvSpPr>
            <a:spLocks noGrp="1"/>
          </p:cNvSpPr>
          <p:nvPr/>
        </p:nvSpPr>
        <p:spPr>
          <a:xfrm>
            <a:off x="8801100" y="16002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9497481-BC0A-4037-89A5-C7ECC212130F}"/>
              </a:ext>
            </a:extLst>
          </p:cNvPr>
          <p:cNvSpPr>
            <a:spLocks noGrp="1"/>
          </p:cNvSpPr>
          <p:nvPr/>
        </p:nvSpPr>
        <p:spPr>
          <a:xfrm>
            <a:off x="8953500" y="17145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فلش‌کارت</a:t>
            </a:r>
            <a:endParaRPr lang="fa-IR"/>
          </a:p>
        </p:txBody>
      </p:sp>
      <p:sp>
        <p:nvSpPr>
          <p:cNvPr id="14" name="">
            <a:extLst>
              <a:ext uri="{FF2B5EF4-FFF2-40B4-BE49-F238E27FC236}">
                <ns2:creationId id="{34468D72-8949-46CE-A1A1-FC55C4145F66}"/>
              </a:ext>
            </a:extLst>
          </p:cNvPr>
          <p:cNvSpPr>
            <a:spLocks noGrp="1"/>
          </p:cNvSpPr>
          <p:nvPr/>
        </p:nvSpPr>
        <p:spPr>
          <a:xfrm>
            <a:off x="685800" y="25146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4AE96379-D9FE-4B29-953E-8AB04CEBEC45}"/>
              </a:ext>
            </a:extLst>
          </p:cNvPr>
          <p:cNvSpPr>
            <a:spLocks noGrp="1"/>
          </p:cNvSpPr>
          <p:nvPr/>
        </p:nvSpPr>
        <p:spPr>
          <a:xfrm>
            <a:off x="838200" y="26289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آزمون</a:t>
            </a:r>
            <a:endParaRPr lang="fa-IR"/>
          </a:p>
        </p:txBody>
      </p:sp>
      <p:sp>
        <p:nvSpPr>
          <p:cNvPr id="16" name="">
            <a:extLst>
              <a:ext uri="{FF2B5EF4-FFF2-40B4-BE49-F238E27FC236}">
                <ns2:creationId id="{197A8CF3-BEFE-4D1F-903A-71F6189A0206}"/>
              </a:ext>
            </a:extLst>
          </p:cNvPr>
          <p:cNvSpPr>
            <a:spLocks noGrp="1"/>
          </p:cNvSpPr>
          <p:nvPr/>
        </p:nvSpPr>
        <p:spPr>
          <a:xfrm>
            <a:off x="3390900" y="25146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20259A12-9A0D-4B02-839D-BFA1C50CD5FC}"/>
              </a:ext>
            </a:extLst>
          </p:cNvPr>
          <p:cNvSpPr>
            <a:spLocks noGrp="1"/>
          </p:cNvSpPr>
          <p:nvPr/>
        </p:nvSpPr>
        <p:spPr>
          <a:xfrm>
            <a:off x="3543300" y="26289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اطلاع‌نگاشت</a:t>
            </a:r>
            <a:endParaRPr lang="fa-IR"/>
          </a:p>
        </p:txBody>
      </p:sp>
      <p:sp>
        <p:nvSpPr>
          <p:cNvPr id="18" name="">
            <a:extLst>
              <a:ext uri="{FF2B5EF4-FFF2-40B4-BE49-F238E27FC236}">
                <ns2:creationId id="{E2118932-F23D-44CB-853A-7D8AA0ED8A14}"/>
              </a:ext>
            </a:extLst>
          </p:cNvPr>
          <p:cNvSpPr>
            <a:spLocks noGrp="1"/>
          </p:cNvSpPr>
          <p:nvPr/>
        </p:nvSpPr>
        <p:spPr>
          <a:xfrm>
            <a:off x="6096000" y="25146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6DF2726-5804-474E-AC7B-69C225E5DF30}"/>
              </a:ext>
            </a:extLst>
          </p:cNvPr>
          <p:cNvSpPr>
            <a:spLocks noGrp="1"/>
          </p:cNvSpPr>
          <p:nvPr/>
        </p:nvSpPr>
        <p:spPr>
          <a:xfrm>
            <a:off x="6248400" y="26289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جدول</a:t>
            </a:r>
            <a:endParaRPr lang="fa-IR"/>
          </a:p>
        </p:txBody>
      </p:sp>
      <p:sp>
        <p:nvSpPr>
          <p:cNvPr id="20" name="">
            <a:extLst>
              <a:ext uri="{FF2B5EF4-FFF2-40B4-BE49-F238E27FC236}">
                <ns2:creationId id="{77E3AD14-1F1C-49E2-9D51-B2DE925379CB}"/>
              </a:ext>
            </a:extLst>
          </p:cNvPr>
          <p:cNvSpPr>
            <a:spLocks noGrp="1"/>
          </p:cNvSpPr>
          <p:nvPr/>
        </p:nvSpPr>
        <p:spPr>
          <a:xfrm>
            <a:off x="8801100" y="25146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AE418618-B518-43F4-94A0-F54E089C7CF2}"/>
              </a:ext>
            </a:extLst>
          </p:cNvPr>
          <p:cNvSpPr>
            <a:spLocks noGrp="1"/>
          </p:cNvSpPr>
          <p:nvPr/>
        </p:nvSpPr>
        <p:spPr>
          <a:xfrm>
            <a:off x="8953500" y="26289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نمودار</a:t>
            </a:r>
            <a:endParaRPr lang="fa-IR"/>
          </a:p>
        </p:txBody>
      </p:sp>
      <p:sp>
        <p:nvSpPr>
          <p:cNvPr id="22" name="">
            <a:extLst>
              <a:ext uri="{FF2B5EF4-FFF2-40B4-BE49-F238E27FC236}">
                <ns2:creationId id="{A16FDA7A-867E-41E1-A667-838AB037FB57}"/>
              </a:ext>
            </a:extLst>
          </p:cNvPr>
          <p:cNvSpPr>
            <a:spLocks noGrp="1"/>
          </p:cNvSpPr>
          <p:nvPr/>
        </p:nvSpPr>
        <p:spPr>
          <a:xfrm>
            <a:off x="685800" y="34290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B18053FF-7A9D-49DF-B2AF-2EAE90589BBA}"/>
              </a:ext>
            </a:extLst>
          </p:cNvPr>
          <p:cNvSpPr>
            <a:spLocks noGrp="1"/>
          </p:cNvSpPr>
          <p:nvPr/>
        </p:nvSpPr>
        <p:spPr>
          <a:xfrm>
            <a:off x="838200" y="35433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خط زمانی</a:t>
            </a:r>
            <a:endParaRPr lang="fa-IR"/>
          </a:p>
        </p:txBody>
      </p:sp>
      <p:sp>
        <p:nvSpPr>
          <p:cNvPr id="24" name="">
            <a:extLst>
              <a:ext uri="{FF2B5EF4-FFF2-40B4-BE49-F238E27FC236}">
                <ns2:creationId id="{3D82D48D-EF18-4CFE-B1F9-48E4DB78F531}"/>
              </a:ext>
            </a:extLst>
          </p:cNvPr>
          <p:cNvSpPr>
            <a:spLocks noGrp="1"/>
          </p:cNvSpPr>
          <p:nvPr/>
        </p:nvSpPr>
        <p:spPr>
          <a:xfrm>
            <a:off x="3390900" y="34290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9C073017-FAE9-4ADB-9DB2-6DEA5168B8F1}"/>
              </a:ext>
            </a:extLst>
          </p:cNvPr>
          <p:cNvSpPr>
            <a:spLocks noGrp="1"/>
          </p:cNvSpPr>
          <p:nvPr/>
        </p:nvSpPr>
        <p:spPr>
          <a:xfrm>
            <a:off x="3543300" y="35433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مقایسه</a:t>
            </a:r>
            <a:endParaRPr lang="fa-IR"/>
          </a:p>
        </p:txBody>
      </p:sp>
      <p:sp>
        <p:nvSpPr>
          <p:cNvPr id="26" name="">
            <a:extLst>
              <a:ext uri="{FF2B5EF4-FFF2-40B4-BE49-F238E27FC236}">
                <ns2:creationId id="{7CDF8C93-F636-4788-8632-2C4F7CE68C6D}"/>
              </a:ext>
            </a:extLst>
          </p:cNvPr>
          <p:cNvSpPr>
            <a:spLocks noGrp="1"/>
          </p:cNvSpPr>
          <p:nvPr/>
        </p:nvSpPr>
        <p:spPr>
          <a:xfrm>
            <a:off x="6096000" y="34290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C206EDDA-BD4E-4C92-BDF0-0CFAAC034FF8}"/>
              </a:ext>
            </a:extLst>
          </p:cNvPr>
          <p:cNvSpPr>
            <a:spLocks noGrp="1"/>
          </p:cNvSpPr>
          <p:nvPr/>
        </p:nvSpPr>
        <p:spPr>
          <a:xfrm>
            <a:off x="6248400" y="35433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شکاف پژوهشی</a:t>
            </a:r>
            <a:endParaRPr lang="fa-IR"/>
          </a:p>
        </p:txBody>
      </p:sp>
      <p:sp>
        <p:nvSpPr>
          <p:cNvPr id="28" name="">
            <a:extLst>
              <a:ext uri="{FF2B5EF4-FFF2-40B4-BE49-F238E27FC236}">
                <ns2:creationId id="{ABA2950F-07CE-47C3-A778-46EE84A5510D}"/>
              </a:ext>
            </a:extLst>
          </p:cNvPr>
          <p:cNvSpPr>
            <a:spLocks noGrp="1"/>
          </p:cNvSpPr>
          <p:nvPr/>
        </p:nvSpPr>
        <p:spPr>
          <a:xfrm>
            <a:off x="8801100" y="34290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38ECFC72-664F-49CF-93E8-17EC09865307}"/>
              </a:ext>
            </a:extLst>
          </p:cNvPr>
          <p:cNvSpPr>
            <a:spLocks noGrp="1"/>
          </p:cNvSpPr>
          <p:nvPr/>
        </p:nvSpPr>
        <p:spPr>
          <a:xfrm>
            <a:off x="8953500" y="35433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پاورپوینت</a:t>
            </a:r>
            <a:endParaRPr lang="fa-IR"/>
          </a:p>
        </p:txBody>
      </p:sp>
      <p:sp>
        <p:nvSpPr>
          <p:cNvPr id="30" name="">
            <a:extLst>
              <a:ext uri="{FF2B5EF4-FFF2-40B4-BE49-F238E27FC236}">
                <ns2:creationId id="{C62A65B8-8223-442A-B427-E249E85E1D3A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2476500" cy="685800"/>
          </a:xfrm>
          <a:prstGeom prst="roundRect">
            <a:avLst>
              <a:gd name="adj" fmla="val 16667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F375A42F-CFDD-48C2-B760-E572EEDD95BA}"/>
              </a:ext>
            </a:extLst>
          </p:cNvPr>
          <p:cNvSpPr>
            <a:spLocks noGrp="1"/>
          </p:cNvSpPr>
          <p:nvPr/>
        </p:nvSpPr>
        <p:spPr>
          <a:xfrm>
            <a:off x="838200" y="4457700"/>
            <a:ext cx="217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275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275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ویدیو</a:t>
            </a:r>
            <a:endParaRPr lang="fa-IR"/>
          </a:p>
        </p:txBody>
      </p:sp>
      <p:sp>
        <p:nvSpPr>
          <p:cNvPr id="32" name="">
            <a:extLst>
              <a:ext uri="{FF2B5EF4-FFF2-40B4-BE49-F238E27FC236}">
                <ns2:creationId id="{6EC019CE-3087-476D-854B-3480F6FE2CF1}"/>
              </a:ext>
            </a:extLst>
          </p:cNvPr>
          <p:cNvSpPr>
            <a:spLocks noGrp="1"/>
          </p:cNvSpPr>
          <p:nvPr/>
        </p:nvSpPr>
        <p:spPr>
          <a:xfrm>
            <a:off x="3390900" y="5467350"/>
            <a:ext cx="5410200" cy="552450"/>
          </a:xfrm>
          <a:prstGeom prst="roundRect">
            <a:avLst>
              <a:gd name="adj" fmla="val 20690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C28E81AD-002D-4366-91D9-AD35B07F46B5}"/>
              </a:ext>
            </a:extLst>
          </p:cNvPr>
          <p:cNvSpPr>
            <a:spLocks noGrp="1"/>
          </p:cNvSpPr>
          <p:nvPr/>
        </p:nvSpPr>
        <p:spPr>
          <a:xfrm>
            <a:off x="3619500" y="55435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350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۲۶ خروجی بدون بازنویسی دستی محتوای برنامه</a:t>
            </a:r>
            <a:endParaRPr lang="fa-IR"/>
          </a:p>
        </p:txBody>
      </p:sp>
    </p:spTree>
    <p:extLst>
      <p:ext uri="{BB962C8B-B14F-4D97-AF65-F5344CB8AC3E}">
        <ns3:creationId val="1257661653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98F2881C-CF37-4E06-8C02-65AA745E08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58D76799-D7C8-4DE9-9B7D-82E806575E70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E923011F-ABE4-4350-965C-1D527D3C530F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اسلاید ویرایش‌پذیر و ویدیوی سینمایی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2F3F3707-25EC-4572-8DC1-37F949ACBF69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E7C9929-452E-4BCC-B49A-67CBDCE2183C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08</a:t>
            </a:r>
          </a:p>
        </p:txBody>
      </p:sp>
      <p:pic>
        <p:nvPicPr>
          <p:cNvPr id="17" name=""/>
          <p:cNvPicPr>
            <a:picLocks noChangeAspect="1"/>
          </p:cNvPicPr>
          <p:nvPr/>
        </p:nvPicPr>
        <p:blipFill>
          <a:blip r:embed="R2034e2c1c8364b4e"/>
          <a:stretch/>
        </p:blipFill>
        <p:spPr>
          <a:xfrm>
            <a:off x="685800" y="1835944"/>
            <a:ext cx="5257800" cy="2957513"/>
          </a:xfrm>
          <a:prstGeom prst="roundRect">
            <a:avLst>
              <a:gd name="adj" fmla="val 3333"/>
            </a:avLst>
          </a:prstGeom>
        </p:spPr>
      </p:pic>
      <p:pic>
        <p:nvPicPr>
          <p:cNvPr id="18" name=""/>
          <p:cNvPicPr>
            <a:picLocks noChangeAspect="1"/>
          </p:cNvPicPr>
          <p:nvPr/>
        </p:nvPicPr>
        <p:blipFill>
          <a:blip r:embed="R4f72e4e425434342"/>
          <a:srcRect l="6875" t="0" r="6875" b="0"/>
          <a:stretch>
            <a:fillRect l="0" t="0" r="0" b="0"/>
          </a:stretch>
        </p:blipFill>
        <p:spPr>
          <a:xfrm>
            <a:off x="6248400" y="1600200"/>
            <a:ext cx="5257800" cy="3429000"/>
          </a:xfrm>
          <a:prstGeom prst="roundRect">
            <a:avLst>
              <a:gd name="adj" fmla="val 3333"/>
            </a:avLst>
          </a:prstGeom>
        </p:spPr>
      </p:pic>
      <p:sp>
        <p:nvSpPr>
          <p:cNvPr id="8" name="">
            <a:extLst>
              <a:ext uri="{FF2B5EF4-FFF2-40B4-BE49-F238E27FC236}">
                <ns2:creationId id="{20407E3E-D993-4B73-B586-98DC803A24C9}"/>
              </a:ext>
            </a:extLst>
          </p:cNvPr>
          <p:cNvSpPr>
            <a:spLocks noGrp="1"/>
          </p:cNvSpPr>
          <p:nvPr/>
        </p:nvSpPr>
        <p:spPr>
          <a:xfrm>
            <a:off x="876300" y="5562600"/>
            <a:ext cx="487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پاورپوینت ویرایش‌پذیر مبتنی بر شواهد</a:t>
            </a:r>
            <a:endParaRPr lang="fa-IR"/>
          </a:p>
        </p:txBody>
      </p:sp>
      <p:sp>
        <p:nvSpPr>
          <p:cNvPr id="9" name="">
            <a:extLst>
              <a:ext uri="{FF2B5EF4-FFF2-40B4-BE49-F238E27FC236}">
                <ns2:creationId id="{7DEBD4B2-1689-4078-85C4-EA63F8E55C78}"/>
              </a:ext>
            </a:extLst>
          </p:cNvPr>
          <p:cNvSpPr>
            <a:spLocks noGrp="1"/>
          </p:cNvSpPr>
          <p:nvPr/>
        </p:nvSpPr>
        <p:spPr>
          <a:xfrm>
            <a:off x="6438900" y="5562600"/>
            <a:ext cx="487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 rtl="1">
              <a:def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ویدیوی با وضوح کامل و رسانه واقعی</a:t>
            </a:r>
            <a:endParaRPr lang="fa-IR"/>
          </a:p>
        </p:txBody>
      </p:sp>
      <p:sp>
        <p:nvSpPr>
          <p:cNvPr id="10" name="">
            <a:extLst>
              <a:ext uri="{FF2B5EF4-FFF2-40B4-BE49-F238E27FC236}">
                <ns2:creationId id="{A0E9B45A-5386-47AA-B1BD-A8E0B4AA5081}"/>
              </a:ext>
            </a:extLst>
            <a:hlinkClick r:id="rId1"/>
          </p:cNvPr>
          <p:cNvSpPr>
            <a:spLocks noGrp="1"/>
          </p:cNvSpPr>
          <p:nvPr/>
        </p:nvSpPr>
        <p:spPr>
          <a:xfrm>
            <a:off x="685800" y="6000750"/>
            <a:ext cx="5257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675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0747A"/>
                </a:solidFill>
                <a:latin typeface="Aptos"/>
                <a:ea typeface="Aptos"/>
                <a:cs typeface="Aptos"/>
                <a:hlinkClick r:id="rId1"/>
              </a:rPr>
              <a:t>https://github.com/msmahdinejad/SourceLens/raw/main/docs/demo/outputs/fa/charge-while-you-shop-slide-deck.pptx</a:t>
            </a:r>
          </a:p>
        </p:txBody>
      </p:sp>
      <p:sp>
        <p:nvSpPr>
          <p:cNvPr id="11" name="">
            <a:extLst>
              <a:ext uri="{FF2B5EF4-FFF2-40B4-BE49-F238E27FC236}">
                <ns2:creationId id="{C84A9A94-D735-4FB4-8E96-4F8B41EA0DE4}"/>
              </a:ext>
            </a:extLst>
            <a:hlinkClick r:id="rId2"/>
          </p:cNvPr>
          <p:cNvSpPr>
            <a:spLocks noGrp="1"/>
          </p:cNvSpPr>
          <p:nvPr/>
        </p:nvSpPr>
        <p:spPr>
          <a:xfrm>
            <a:off x="6248400" y="6000750"/>
            <a:ext cx="5257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675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0747A"/>
                </a:solidFill>
                <a:latin typeface="Aptos"/>
                <a:ea typeface="Aptos"/>
                <a:cs typeface="Aptos"/>
                <a:hlinkClick r:id="rId2"/>
              </a:rPr>
              <a:t>https://github.com/msmahdinejad/SourceLens/raw/main/docs/demo/outputs/fa/charge-while-you-shop-video-overview.mp4</a:t>
            </a:r>
          </a:p>
        </p:txBody>
      </p:sp>
    </p:spTree>
    <p:extLst>
      <p:ext uri="{BB962C8B-B14F-4D97-AF65-F5344CB8AC3E}">
        <ns4:creationId val="1028127725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" name="">
            <a:extLst>
              <a:ext uri="{FF2B5EF4-FFF2-40B4-BE49-F238E27FC236}">
                <ns2:creationId id="{3773C8D3-6C58-4563-ABC7-2251A8B033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6851B04E-9384-4A90-AEF3-ABC6B8DA5401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7626DFE8-CAA9-4C3D-9FFF-CF21A6297BF3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همه کنترل‌های کیفیت موفق بودند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C9F89713-A5A0-4C01-A450-958095A1CFAA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BA53EAC-2B8A-4F43-8E48-B2B61DF60B93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09</a:t>
            </a:r>
          </a:p>
        </p:txBody>
      </p:sp>
      <p:sp>
        <p:nvSpPr>
          <p:cNvPr id="6" name="">
            <a:extLst>
              <a:ext uri="{FF2B5EF4-FFF2-40B4-BE49-F238E27FC236}">
                <ns2:creationId id="{233C2E09-D0D9-4619-B7D9-BB6ED1AC0B0F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2476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C9AF5AB-F13B-42D1-8A06-64EA13988F48}"/>
              </a:ext>
            </a:extLst>
          </p:cNvPr>
          <p:cNvSpPr>
            <a:spLocks noGrp="1"/>
          </p:cNvSpPr>
          <p:nvPr/>
        </p:nvSpPr>
        <p:spPr>
          <a:xfrm>
            <a:off x="857250" y="1809750"/>
            <a:ext cx="2133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5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25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۲۶</a:t>
            </a:r>
            <a:endParaRPr lang="fa-IR"/>
          </a:p>
        </p:txBody>
      </p:sp>
      <p:sp>
        <p:nvSpPr>
          <p:cNvPr id="8" name="">
            <a:extLst>
              <a:ext uri="{FF2B5EF4-FFF2-40B4-BE49-F238E27FC236}">
                <ns2:creationId id="{579AACDC-1479-4C4B-B8C0-1B7EF2800D02}"/>
              </a:ext>
            </a:extLst>
          </p:cNvPr>
          <p:cNvSpPr>
            <a:spLocks noGrp="1"/>
          </p:cNvSpPr>
          <p:nvPr/>
        </p:nvSpPr>
        <p:spPr>
          <a:xfrm>
            <a:off x="857250" y="2305050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خروجی آماده</a:t>
            </a:r>
            <a:endParaRPr lang="fa-IR"/>
          </a:p>
        </p:txBody>
      </p:sp>
      <p:sp>
        <p:nvSpPr>
          <p:cNvPr id="9" name="">
            <a:extLst>
              <a:ext uri="{FF2B5EF4-FFF2-40B4-BE49-F238E27FC236}">
                <ns2:creationId id="{51729D38-4329-4DD1-A95D-91F0C4D04F0C}"/>
              </a:ext>
            </a:extLst>
          </p:cNvPr>
          <p:cNvSpPr>
            <a:spLocks noGrp="1"/>
          </p:cNvSpPr>
          <p:nvPr/>
        </p:nvSpPr>
        <p:spPr>
          <a:xfrm>
            <a:off x="3390900" y="1676400"/>
            <a:ext cx="2476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273A2C8D-907F-4E69-A237-E58F666658AB}"/>
              </a:ext>
            </a:extLst>
          </p:cNvPr>
          <p:cNvSpPr>
            <a:spLocks noGrp="1"/>
          </p:cNvSpPr>
          <p:nvPr/>
        </p:nvSpPr>
        <p:spPr>
          <a:xfrm>
            <a:off x="3562350" y="1809750"/>
            <a:ext cx="2133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2550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50 s</a:t>
            </a:r>
          </a:p>
        </p:txBody>
      </p:sp>
      <p:sp>
        <p:nvSpPr>
          <p:cNvPr id="11" name="">
            <a:extLst>
              <a:ext uri="{FF2B5EF4-FFF2-40B4-BE49-F238E27FC236}">
                <ns2:creationId id="{BFA113D3-9771-4CC0-92E6-699FA6C64E58}"/>
              </a:ext>
            </a:extLst>
          </p:cNvPr>
          <p:cNvSpPr>
            <a:spLocks noGrp="1"/>
          </p:cNvSpPr>
          <p:nvPr/>
        </p:nvSpPr>
        <p:spPr>
          <a:xfrm>
            <a:off x="3562350" y="2305050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 rtl="1">
              <a:def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مدت ویدیوی این زبان</a:t>
            </a:r>
            <a:endParaRPr lang="fa-IR"/>
          </a:p>
        </p:txBody>
      </p:sp>
      <p:sp>
        <p:nvSpPr>
          <p:cNvPr id="12" name="">
            <a:extLst>
              <a:ext uri="{FF2B5EF4-FFF2-40B4-BE49-F238E27FC236}">
                <ns2:creationId id="{6FCE8DFD-8C2D-4968-B24A-287A084824F5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2476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E3A664E-2EE8-46AE-B807-74CDA6806914}"/>
              </a:ext>
            </a:extLst>
          </p:cNvPr>
          <p:cNvSpPr>
            <a:spLocks noGrp="1"/>
          </p:cNvSpPr>
          <p:nvPr/>
        </p:nvSpPr>
        <p:spPr>
          <a:xfrm>
            <a:off x="6267450" y="1809750"/>
            <a:ext cx="2133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5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25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۱۰۸۰</a:t>
            </a:r>
            <a:endParaRPr lang="fa-IR"/>
          </a:p>
        </p:txBody>
      </p:sp>
      <p:sp>
        <p:nvSpPr>
          <p:cNvPr id="14" name="">
            <a:extLst>
              <a:ext uri="{FF2B5EF4-FFF2-40B4-BE49-F238E27FC236}">
                <ns2:creationId id="{71CA8799-E84E-4488-8EC9-E1C03ED82D05}"/>
              </a:ext>
            </a:extLst>
          </p:cNvPr>
          <p:cNvSpPr>
            <a:spLocks noGrp="1"/>
          </p:cNvSpPr>
          <p:nvPr/>
        </p:nvSpPr>
        <p:spPr>
          <a:xfrm>
            <a:off x="6267450" y="2305050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وضوح ویدیو</a:t>
            </a:r>
            <a:endParaRPr lang="fa-IR"/>
          </a:p>
        </p:txBody>
      </p:sp>
      <p:sp>
        <p:nvSpPr>
          <p:cNvPr id="15" name="">
            <a:extLst>
              <a:ext uri="{FF2B5EF4-FFF2-40B4-BE49-F238E27FC236}">
                <ns2:creationId id="{F799ED49-E724-46F4-A27B-FA187FF691B6}"/>
              </a:ext>
            </a:extLst>
          </p:cNvPr>
          <p:cNvSpPr>
            <a:spLocks noGrp="1"/>
          </p:cNvSpPr>
          <p:nvPr/>
        </p:nvSpPr>
        <p:spPr>
          <a:xfrm>
            <a:off x="8801100" y="1676400"/>
            <a:ext cx="27051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078A7F5-B790-4305-B095-5E7257AD1A2F}"/>
              </a:ext>
            </a:extLst>
          </p:cNvPr>
          <p:cNvSpPr>
            <a:spLocks noGrp="1"/>
          </p:cNvSpPr>
          <p:nvPr/>
        </p:nvSpPr>
        <p:spPr>
          <a:xfrm>
            <a:off x="8972550" y="1809750"/>
            <a:ext cx="2362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2550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2550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8</a:t>
            </a:r>
          </a:p>
        </p:txBody>
      </p:sp>
      <p:sp>
        <p:nvSpPr>
          <p:cNvPr id="17" name="">
            <a:extLst>
              <a:ext uri="{FF2B5EF4-FFF2-40B4-BE49-F238E27FC236}">
                <ns2:creationId id="{9E7C0255-CFD3-4704-BD2A-AC20E3E3727A}"/>
              </a:ext>
            </a:extLst>
          </p:cNvPr>
          <p:cNvSpPr>
            <a:spLocks noGrp="1"/>
          </p:cNvSpPr>
          <p:nvPr/>
        </p:nvSpPr>
        <p:spPr>
          <a:xfrm>
            <a:off x="8972550" y="2305050"/>
            <a:ext cx="236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200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اسلاید ویرایش‌پذیر</a:t>
            </a:r>
            <a:endParaRPr lang="fa-IR"/>
          </a:p>
        </p:txBody>
      </p:sp>
      <p:sp>
        <p:nvSpPr>
          <p:cNvPr id="18" name="">
            <a:extLst>
              <a:ext uri="{FF2B5EF4-FFF2-40B4-BE49-F238E27FC236}">
                <ns2:creationId id="{92B0CCF6-0814-4E97-886E-96594DC49423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820400" cy="2247900"/>
          </a:xfrm>
          <a:prstGeom prst="roundRect">
            <a:avLst>
              <a:gd name="adj" fmla="val 5085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6A1D9ACC-5CD1-4D1F-8D51-1B70DE5A29E9}"/>
              </a:ext>
            </a:extLst>
          </p:cNvPr>
          <p:cNvSpPr>
            <a:spLocks noGrp="1"/>
          </p:cNvSpPr>
          <p:nvPr/>
        </p:nvSpPr>
        <p:spPr>
          <a:xfrm>
            <a:off x="1047750" y="3524250"/>
            <a:ext cx="1009650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مجموعه کامل تست‌های </a:t>
            </a:r>
            <a:r>
              <a:rPr sz="1725" b="0" lang="en-US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Python</a:t>
            </a:r>
            <a:r>
              <a: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 موفق بود</a:t>
            </a:r>
            <a:endParaRPr lang="fa-IR"/>
          </a:p>
          <a:p>
            <a:pPr algn="r" rtl="1">
              <a:def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تست‌های </a:t>
            </a:r>
            <a:r>
              <a:rPr sz="1725" b="0" lang="en-US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Node</a:t>
            </a:r>
            <a:r>
              <a: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، نحو </a:t>
            </a:r>
            <a:r>
              <a:rPr sz="1725" b="0" lang="en-US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JavaScript</a:t>
            </a:r>
            <a:r>
              <a: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 و ممیزی مجوزها سبز هستند</a:t>
            </a:r>
            <a:endParaRPr lang="fa-IR"/>
          </a:p>
          <a:p>
            <a:pPr algn="r" rtl="1">
              <a:def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ویدیوها: صدای طبیعی، کدک </a:t>
            </a:r>
            <a:r>
              <a:rPr sz="1725" b="0" lang="en-US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H.264</a:t>
            </a:r>
            <a:r>
              <a: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 و </a:t>
            </a:r>
            <a:r>
              <a:rPr sz="1725" b="0" lang="en-US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AAC</a:t>
            </a:r>
            <a:r>
              <a:rPr sz="17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، زیرنویس و خط زمانی پاک</a:t>
            </a:r>
            <a:endParaRPr lang="fa-IR"/>
          </a:p>
        </p:txBody>
      </p:sp>
    </p:spTree>
    <p:extLst>
      <p:ext uri="{BB962C8B-B14F-4D97-AF65-F5344CB8AC3E}">
        <ns3:creationId val="603772072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6" name="">
            <a:extLst>
              <a:ext uri="{FF2B5EF4-FFF2-40B4-BE49-F238E27FC236}">
                <ns2:creationId id="{B146F5F0-3F1B-43B7-BDB2-8CB30A9BC6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29210BFA-D057-46DC-98FA-17B34E8330B8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FDF9B369-1692-4768-947D-25074D2EB108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مرور صوتی طبیعی و دوزبانه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271501D8-BE6E-4275-87AD-02FD54FD8BF7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52DAEB39-0877-4CBB-93E8-EC22D0F81C03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10</a:t>
            </a:r>
          </a:p>
        </p:txBody>
      </p:sp>
      <p:sp>
        <p:nvSpPr>
          <p:cNvPr id="6" name="">
            <a:extLst>
              <a:ext uri="{FF2B5EF4-FFF2-40B4-BE49-F238E27FC236}">
                <ns2:creationId id="{29609CBB-9935-440F-B1A0-FD6046AD933E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4953000" cy="3733800"/>
          </a:xfrm>
          <a:prstGeom prst="roundRect">
            <a:avLst>
              <a:gd name="adj" fmla="val 3061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B2B3DD7-A844-4586-84C5-9D7FB5A95A58}"/>
              </a:ext>
            </a:extLst>
          </p:cNvPr>
          <p:cNvSpPr>
            <a:spLocks noGrp="1"/>
          </p:cNvSpPr>
          <p:nvPr/>
        </p:nvSpPr>
        <p:spPr>
          <a:xfrm>
            <a:off x="1066800" y="3238500"/>
            <a:ext cx="114300" cy="4572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16314399-1A65-4F15-B509-9481F116542B}"/>
              </a:ext>
            </a:extLst>
          </p:cNvPr>
          <p:cNvSpPr>
            <a:spLocks noGrp="1"/>
          </p:cNvSpPr>
          <p:nvPr/>
        </p:nvSpPr>
        <p:spPr>
          <a:xfrm>
            <a:off x="1362075" y="3124200"/>
            <a:ext cx="114300" cy="66675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E78D17F0-8D76-4B7B-982A-F8CCDFD69AD2}"/>
              </a:ext>
            </a:extLst>
          </p:cNvPr>
          <p:cNvSpPr>
            <a:spLocks noGrp="1"/>
          </p:cNvSpPr>
          <p:nvPr/>
        </p:nvSpPr>
        <p:spPr>
          <a:xfrm>
            <a:off x="1657350" y="3009900"/>
            <a:ext cx="114300" cy="8763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8A4AC8E8-8665-445C-AC8F-FF6EC9874D06}"/>
              </a:ext>
            </a:extLst>
          </p:cNvPr>
          <p:cNvSpPr>
            <a:spLocks noGrp="1"/>
          </p:cNvSpPr>
          <p:nvPr/>
        </p:nvSpPr>
        <p:spPr>
          <a:xfrm>
            <a:off x="1952625" y="2895600"/>
            <a:ext cx="114300" cy="108585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333C1884-1910-40FC-B780-C7F745EABDCA}"/>
              </a:ext>
            </a:extLst>
          </p:cNvPr>
          <p:cNvSpPr>
            <a:spLocks noGrp="1"/>
          </p:cNvSpPr>
          <p:nvPr/>
        </p:nvSpPr>
        <p:spPr>
          <a:xfrm>
            <a:off x="2247900" y="2781300"/>
            <a:ext cx="114300" cy="12954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C69782AF-5B1F-4C81-B4DB-D86EA310792E}"/>
              </a:ext>
            </a:extLst>
          </p:cNvPr>
          <p:cNvSpPr>
            <a:spLocks noGrp="1"/>
          </p:cNvSpPr>
          <p:nvPr/>
        </p:nvSpPr>
        <p:spPr>
          <a:xfrm>
            <a:off x="2543175" y="3238500"/>
            <a:ext cx="114300" cy="45720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35C15EB5-ADB1-4582-8E01-A77B1F5E1F1E}"/>
              </a:ext>
            </a:extLst>
          </p:cNvPr>
          <p:cNvSpPr>
            <a:spLocks noGrp="1"/>
          </p:cNvSpPr>
          <p:nvPr/>
        </p:nvSpPr>
        <p:spPr>
          <a:xfrm>
            <a:off x="2838450" y="3124200"/>
            <a:ext cx="114300" cy="66675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CC36B8F0-05A6-4548-B2F6-5FF4EFC036B5}"/>
              </a:ext>
            </a:extLst>
          </p:cNvPr>
          <p:cNvSpPr>
            <a:spLocks noGrp="1"/>
          </p:cNvSpPr>
          <p:nvPr/>
        </p:nvSpPr>
        <p:spPr>
          <a:xfrm>
            <a:off x="3133725" y="3009900"/>
            <a:ext cx="114300" cy="87630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8B2EE13-4F85-4FC1-9A06-C87B0792450B}"/>
              </a:ext>
            </a:extLst>
          </p:cNvPr>
          <p:cNvSpPr>
            <a:spLocks noGrp="1"/>
          </p:cNvSpPr>
          <p:nvPr/>
        </p:nvSpPr>
        <p:spPr>
          <a:xfrm>
            <a:off x="3429000" y="2895600"/>
            <a:ext cx="114300" cy="108585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49B13FA5-2E3C-478F-BD60-96B928CAC773}"/>
              </a:ext>
            </a:extLst>
          </p:cNvPr>
          <p:cNvSpPr>
            <a:spLocks noGrp="1"/>
          </p:cNvSpPr>
          <p:nvPr/>
        </p:nvSpPr>
        <p:spPr>
          <a:xfrm>
            <a:off x="3724275" y="2781300"/>
            <a:ext cx="114300" cy="129540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09737357-04F8-4E95-8980-C301E1FB1502}"/>
              </a:ext>
            </a:extLst>
          </p:cNvPr>
          <p:cNvSpPr>
            <a:spLocks noGrp="1"/>
          </p:cNvSpPr>
          <p:nvPr/>
        </p:nvSpPr>
        <p:spPr>
          <a:xfrm>
            <a:off x="4019550" y="3238500"/>
            <a:ext cx="114300" cy="4572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E72A194-14CF-4E0C-9018-F7769154A398}"/>
              </a:ext>
            </a:extLst>
          </p:cNvPr>
          <p:cNvSpPr>
            <a:spLocks noGrp="1"/>
          </p:cNvSpPr>
          <p:nvPr/>
        </p:nvSpPr>
        <p:spPr>
          <a:xfrm>
            <a:off x="4314825" y="3124200"/>
            <a:ext cx="114300" cy="66675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11238908-4F53-49C1-BDB9-860E7E577587}"/>
              </a:ext>
            </a:extLst>
          </p:cNvPr>
          <p:cNvSpPr>
            <a:spLocks noGrp="1"/>
          </p:cNvSpPr>
          <p:nvPr/>
        </p:nvSpPr>
        <p:spPr>
          <a:xfrm>
            <a:off x="4610100" y="3009900"/>
            <a:ext cx="114300" cy="8763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DBCE226C-26E0-44BD-92AA-10DEE2CA8D75}"/>
              </a:ext>
            </a:extLst>
          </p:cNvPr>
          <p:cNvSpPr>
            <a:spLocks noGrp="1"/>
          </p:cNvSpPr>
          <p:nvPr/>
        </p:nvSpPr>
        <p:spPr>
          <a:xfrm>
            <a:off x="4905375" y="2895600"/>
            <a:ext cx="114300" cy="108585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AAB10837-D983-4BD6-9A4E-CF81FC55EE7A}"/>
              </a:ext>
            </a:extLst>
          </p:cNvPr>
          <p:cNvSpPr>
            <a:spLocks noGrp="1"/>
          </p:cNvSpPr>
          <p:nvPr/>
        </p:nvSpPr>
        <p:spPr>
          <a:xfrm>
            <a:off x="1066800" y="1809750"/>
            <a:ext cx="40957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575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575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هفت نوبت گفت‌وگو</a:t>
            </a:r>
            <a:endParaRPr lang="fa-IR"/>
          </a:p>
          <a:p>
            <a:pPr algn="r" rtl="1">
              <a:defRPr sz="1575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575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دو صدای طبیعی</a:t>
            </a:r>
            <a:endParaRPr lang="fa-IR"/>
          </a:p>
          <a:p>
            <a:pPr algn="r" rtl="1">
              <a:defRPr sz="1575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575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رونوشت دانلودپذیر</a:t>
            </a:r>
            <a:endParaRPr lang="fa-IR"/>
          </a:p>
        </p:txBody>
      </p:sp>
      <p:sp>
        <p:nvSpPr>
          <p:cNvPr id="22" name="">
            <a:extLst>
              <a:ext uri="{FF2B5EF4-FFF2-40B4-BE49-F238E27FC236}">
                <ns2:creationId id="{9E1F1A8B-C184-4C5E-A982-FF0B374916EF}"/>
              </a:ext>
            </a:extLst>
          </p:cNvPr>
          <p:cNvSpPr>
            <a:spLocks noGrp="1"/>
          </p:cNvSpPr>
          <p:nvPr/>
        </p:nvSpPr>
        <p:spPr>
          <a:xfrm>
            <a:off x="1066800" y="28384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75" b="1">
                <a:solidFill>
                  <a:srgbClr val="2ED3B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ED3B7"/>
                </a:solidFill>
                <a:latin typeface="Aptos"/>
                <a:ea typeface="Aptos"/>
                <a:cs typeface="Aptos"/>
              </a:rPr>
              <a:t>Puck + Aoede</a:t>
            </a:r>
          </a:p>
        </p:txBody>
      </p:sp>
      <p:sp>
        <p:nvSpPr>
          <p:cNvPr id="23" name="">
            <a:extLst>
              <a:ext uri="{FF2B5EF4-FFF2-40B4-BE49-F238E27FC236}">
                <ns2:creationId id="{9315CA70-054F-43BA-BC6A-68869ED04E13}"/>
              </a:ext>
            </a:extLst>
          </p:cNvPr>
          <p:cNvSpPr>
            <a:spLocks noGrp="1"/>
          </p:cNvSpPr>
          <p:nvPr/>
        </p:nvSpPr>
        <p:spPr>
          <a:xfrm>
            <a:off x="5962650" y="1600200"/>
            <a:ext cx="5543550" cy="3733800"/>
          </a:xfrm>
          <a:prstGeom prst="roundRect">
            <a:avLst>
              <a:gd name="adj" fmla="val 3061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9CFD478F-5B20-4AB8-B3B3-908324E301F3}"/>
              </a:ext>
            </a:extLst>
          </p:cNvPr>
          <p:cNvSpPr>
            <a:spLocks noGrp="1"/>
          </p:cNvSpPr>
          <p:nvPr/>
        </p:nvSpPr>
        <p:spPr>
          <a:xfrm>
            <a:off x="6286500" y="1847850"/>
            <a:ext cx="48958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500" b="0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500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برنامه گفت‌وگوی مستند را آماده و با مدل زنده جمنای ۳.۱ و دو صدای طبیعی تولید کرد؛ سرعت گفتار بدون تغییر باقی ماند.</a:t>
            </a:r>
            <a:endParaRPr lang="fa-IR"/>
          </a:p>
        </p:txBody>
      </p:sp>
      <p:sp>
        <p:nvSpPr>
          <p:cNvPr id="25" name="">
            <a:extLst>
              <a:ext uri="{FF2B5EF4-FFF2-40B4-BE49-F238E27FC236}">
                <ns2:creationId id="{B6AD94F8-23F4-4E27-8ED5-9782FEA3D4EB}"/>
              </a:ext>
            </a:extLst>
          </p:cNvPr>
          <p:cNvSpPr>
            <a:spLocks noGrp="1"/>
          </p:cNvSpPr>
          <p:nvPr/>
        </p:nvSpPr>
        <p:spPr>
          <a:xfrm>
            <a:off x="6286500" y="4000500"/>
            <a:ext cx="48958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350" b="1" lang="fa-IR">
                <a:solidFill>
                  <a:srgbClr val="2ED3B7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2ED3B7"/>
                </a:solidFill>
                <a:latin typeface="Kalameh"/>
                <a:ea typeface="Kalameh"/>
                <a:cs typeface="Kalameh"/>
              </a:rPr>
              <a:t>دو دقیقه و ده ثانیه</a:t>
            </a:r>
            <a:endParaRPr lang="fa-IR"/>
          </a:p>
          <a:p>
            <a:pPr algn="r" rtl="1">
              <a:defRPr sz="1350" b="1" lang="fa-IR">
                <a:solidFill>
                  <a:srgbClr val="2ED3B7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2ED3B7"/>
                </a:solidFill>
                <a:latin typeface="Kalameh"/>
                <a:ea typeface="Kalameh"/>
                <a:cs typeface="Kalameh"/>
              </a:rPr>
              <a:t>مدل زنده جمنای ۳.۱</a:t>
            </a:r>
            <a:endParaRPr lang="fa-IR"/>
          </a:p>
          <a:p>
            <a:pPr algn="r" rtl="1">
              <a:defRPr sz="1350" b="1" lang="fa-IR">
                <a:solidFill>
                  <a:srgbClr val="2ED3B7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2ED3B7"/>
                </a:solidFill>
                <a:latin typeface="Kalameh"/>
                <a:ea typeface="Kalameh"/>
                <a:cs typeface="Kalameh"/>
              </a:rPr>
              <a:t>سرعت گفتار بدون تغییر</a:t>
            </a:r>
            <a:endParaRPr lang="fa-IR"/>
          </a:p>
        </p:txBody>
      </p:sp>
    </p:spTree>
    <p:extLst>
      <p:ext uri="{BB962C8B-B14F-4D97-AF65-F5344CB8AC3E}">
        <ns3:creationId val="269034269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4" name="">
            <a:extLst>
              <a:ext uri="{FF2B5EF4-FFF2-40B4-BE49-F238E27FC236}">
                <ns2:creationId id="{00FB4CFE-C74B-4CEA-B5DC-A5F1F97F48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9DC5C08B-A2F6-4449-8BF1-8BFBF4FEC921}"/>
              </a:ext>
            </a:extLst>
          </p:cNvPr>
          <p:cNvSpPr>
            <a:spLocks noGrp="1"/>
          </p:cNvSpPr>
          <p:nvPr/>
        </p:nvSpPr>
        <p:spPr>
          <a:xfrm>
            <a:off x="962025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975" b="1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SOURCELENS</a:t>
            </a:r>
          </a:p>
        </p:txBody>
      </p:sp>
      <p:sp>
        <p:nvSpPr>
          <p:cNvPr id="3" name="">
            <a:extLst>
              <a:ext uri="{FF2B5EF4-FFF2-40B4-BE49-F238E27FC236}">
                <ns2:creationId id="{3B56BBE7-CE90-42E5-A19A-DAA1961428FC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defRPr>
            </a:pPr>
            <a:r>
              <a:rPr sz="2700" b="1" lang="fa-IR">
                <a:solidFill>
                  <a:srgbClr val="071A24"/>
                </a:solidFill>
                <a:latin typeface="Kalameh"/>
                <a:ea typeface="Kalameh"/>
                <a:cs typeface="Kalameh"/>
              </a:rPr>
              <a:t>شواهد انتشار: کیفیت، مجوز و بازتولیدپذیری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E05FC792-FC7D-4287-9943-EE45B49DCE04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5164CBD-6F50-414C-8D3E-642452E09205}"/>
              </a:ext>
            </a:extLst>
          </p:cNvPr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900" b="1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11</a:t>
            </a:r>
          </a:p>
        </p:txBody>
      </p:sp>
      <p:sp>
        <p:nvSpPr>
          <p:cNvPr id="6" name="">
            <a:extLst>
              <a:ext uri="{FF2B5EF4-FFF2-40B4-BE49-F238E27FC236}">
                <ns2:creationId id="{39EC2636-47EF-4B7C-868A-D500D7F64FB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054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6A94E0E-F540-4D3A-B82D-C1B3F65CEF91}"/>
              </a:ext>
            </a:extLst>
          </p:cNvPr>
          <p:cNvSpPr>
            <a:spLocks noGrp="1"/>
          </p:cNvSpPr>
          <p:nvPr/>
        </p:nvSpPr>
        <p:spPr>
          <a:xfrm>
            <a:off x="895350" y="1714500"/>
            <a:ext cx="468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بازیابی</a:t>
            </a:r>
            <a:endParaRPr lang="fa-IR"/>
          </a:p>
        </p:txBody>
      </p:sp>
      <p:sp>
        <p:nvSpPr>
          <p:cNvPr id="8" name="">
            <a:extLst>
              <a:ext uri="{FF2B5EF4-FFF2-40B4-BE49-F238E27FC236}">
                <ns2:creationId id="{447CE6F4-D7F1-4354-9BC7-3A540BE757AF}"/>
              </a:ext>
            </a:extLst>
          </p:cNvPr>
          <p:cNvSpPr>
            <a:spLocks noGrp="1"/>
          </p:cNvSpPr>
          <p:nvPr/>
        </p:nvSpPr>
        <p:spPr>
          <a:xfrm>
            <a:off x="895350" y="2057400"/>
            <a:ext cx="468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125" b="0" lang="en-US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Recall</a:t>
            </a:r>
            <a:r>
              <a: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 و دقت استناد ثبت‌شده</a:t>
            </a:r>
            <a:endParaRPr lang="fa-IR"/>
          </a:p>
        </p:txBody>
      </p:sp>
      <p:sp>
        <p:nvSpPr>
          <p:cNvPr id="9" name="">
            <a:extLst>
              <a:ext uri="{FF2B5EF4-FFF2-40B4-BE49-F238E27FC236}">
                <ns2:creationId id="{488FC73D-06D8-4A43-BCBD-ACAE45EAB6EE}"/>
              </a:ext>
            </a:extLst>
          </p:cNvPr>
          <p:cNvSpPr>
            <a:spLocks noGrp="1"/>
          </p:cNvSpPr>
          <p:nvPr/>
        </p:nvSpPr>
        <p:spPr>
          <a:xfrm>
            <a:off x="6096000" y="1600200"/>
            <a:ext cx="51054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26DF07C9-929A-4873-8A7D-434825F3EC3B}"/>
              </a:ext>
            </a:extLst>
          </p:cNvPr>
          <p:cNvSpPr>
            <a:spLocks noGrp="1"/>
          </p:cNvSpPr>
          <p:nvPr/>
        </p:nvSpPr>
        <p:spPr>
          <a:xfrm>
            <a:off x="6305550" y="1714500"/>
            <a:ext cx="468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خروجی</a:t>
            </a:r>
            <a:endParaRPr lang="fa-IR"/>
          </a:p>
        </p:txBody>
      </p:sp>
      <p:sp>
        <p:nvSpPr>
          <p:cNvPr id="11" name="">
            <a:extLst>
              <a:ext uri="{FF2B5EF4-FFF2-40B4-BE49-F238E27FC236}">
                <ns2:creationId id="{7EA0D7D0-626B-4A87-B9FF-DB086CA01068}"/>
              </a:ext>
            </a:extLst>
          </p:cNvPr>
          <p:cNvSpPr>
            <a:spLocks noGrp="1"/>
          </p:cNvSpPr>
          <p:nvPr/>
        </p:nvSpPr>
        <p:spPr>
          <a:xfrm>
            <a:off x="6305550" y="2057400"/>
            <a:ext cx="468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هش، اندازه و مانیفست مستقل</a:t>
            </a:r>
            <a:endParaRPr lang="fa-IR"/>
          </a:p>
        </p:txBody>
      </p:sp>
      <p:sp>
        <p:nvSpPr>
          <p:cNvPr id="12" name="">
            <a:extLst>
              <a:ext uri="{FF2B5EF4-FFF2-40B4-BE49-F238E27FC236}">
                <ns2:creationId id="{2DCAE817-C3A3-4AB7-8930-96B073ACF8E2}"/>
              </a:ext>
            </a:extLst>
          </p:cNvPr>
          <p:cNvSpPr>
            <a:spLocks noGrp="1"/>
          </p:cNvSpPr>
          <p:nvPr/>
        </p:nvSpPr>
        <p:spPr>
          <a:xfrm>
            <a:off x="685800" y="2895600"/>
            <a:ext cx="51054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210C284-A0A9-4681-900C-3CF394A4A4C4}"/>
              </a:ext>
            </a:extLst>
          </p:cNvPr>
          <p:cNvSpPr>
            <a:spLocks noGrp="1"/>
          </p:cNvSpPr>
          <p:nvPr/>
        </p:nvSpPr>
        <p:spPr>
          <a:xfrm>
            <a:off x="895350" y="3009900"/>
            <a:ext cx="468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رسانه</a:t>
            </a:r>
            <a:endParaRPr lang="fa-IR"/>
          </a:p>
        </p:txBody>
      </p:sp>
      <p:sp>
        <p:nvSpPr>
          <p:cNvPr id="14" name="">
            <a:extLst>
              <a:ext uri="{FF2B5EF4-FFF2-40B4-BE49-F238E27FC236}">
                <ns2:creationId id="{2D3CB471-0E2D-4961-99C9-0D79C102443D}"/>
              </a:ext>
            </a:extLst>
          </p:cNvPr>
          <p:cNvSpPr>
            <a:spLocks noGrp="1"/>
          </p:cNvSpPr>
          <p:nvPr/>
        </p:nvSpPr>
        <p:spPr>
          <a:xfrm>
            <a:off x="895350" y="3352800"/>
            <a:ext cx="468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125" b="0" lang="en-US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Pexels</a:t>
            </a:r>
            <a:r>
              <a: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 واقعی و اعتبار دقیق</a:t>
            </a:r>
            <a:endParaRPr lang="fa-IR"/>
          </a:p>
        </p:txBody>
      </p:sp>
      <p:sp>
        <p:nvSpPr>
          <p:cNvPr id="15" name="">
            <a:extLst>
              <a:ext uri="{FF2B5EF4-FFF2-40B4-BE49-F238E27FC236}">
                <ns2:creationId id="{D0670170-7957-406B-BCD0-0E120E509FB4}"/>
              </a:ext>
            </a:extLst>
          </p:cNvPr>
          <p:cNvSpPr>
            <a:spLocks noGrp="1"/>
          </p:cNvSpPr>
          <p:nvPr/>
        </p:nvSpPr>
        <p:spPr>
          <a:xfrm>
            <a:off x="6096000" y="2895600"/>
            <a:ext cx="51054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44F1D278-FC76-41B7-8BA1-3AC3C9A38606}"/>
              </a:ext>
            </a:extLst>
          </p:cNvPr>
          <p:cNvSpPr>
            <a:spLocks noGrp="1"/>
          </p:cNvSpPr>
          <p:nvPr/>
        </p:nvSpPr>
        <p:spPr>
          <a:xfrm>
            <a:off x="6305550" y="3009900"/>
            <a:ext cx="468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ویدیو</a:t>
            </a:r>
            <a:endParaRPr lang="fa-IR"/>
          </a:p>
        </p:txBody>
      </p:sp>
      <p:sp>
        <p:nvSpPr>
          <p:cNvPr id="17" name="">
            <a:extLst>
              <a:ext uri="{FF2B5EF4-FFF2-40B4-BE49-F238E27FC236}">
                <ns2:creationId id="{2B44C500-88B6-4EBB-A7EC-55ABC746E1E7}"/>
              </a:ext>
            </a:extLst>
          </p:cNvPr>
          <p:cNvSpPr>
            <a:spLocks noGrp="1"/>
          </p:cNvSpPr>
          <p:nvPr/>
        </p:nvSpPr>
        <p:spPr>
          <a:xfrm>
            <a:off x="6305550" y="3352800"/>
            <a:ext cx="468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وضوح کامل، </a:t>
            </a:r>
            <a:r>
              <a:rPr sz="1125" b="0" lang="en-US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H.264</a:t>
            </a:r>
            <a:r>
              <a: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 و </a:t>
            </a:r>
            <a:r>
              <a:rPr sz="1125" b="0" lang="en-US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AAC</a:t>
            </a:r>
            <a:endParaRPr lang="fa-IR"/>
          </a:p>
        </p:txBody>
      </p:sp>
      <p:sp>
        <p:nvSpPr>
          <p:cNvPr id="18" name="">
            <a:extLst>
              <a:ext uri="{FF2B5EF4-FFF2-40B4-BE49-F238E27FC236}">
                <ns2:creationId id="{9ECEA6EE-DB47-48DD-994F-94488223C75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51054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7119D966-B223-4BB2-8E9A-B9A17385E17E}"/>
              </a:ext>
            </a:extLst>
          </p:cNvPr>
          <p:cNvSpPr>
            <a:spLocks noGrp="1"/>
          </p:cNvSpPr>
          <p:nvPr/>
        </p:nvSpPr>
        <p:spPr>
          <a:xfrm>
            <a:off x="895350" y="4305300"/>
            <a:ext cx="468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0E756F"/>
                </a:solidFill>
                <a:latin typeface="Kalameh"/>
                <a:ea typeface="Kalameh"/>
                <a:cs typeface="Kalameh"/>
              </a:rPr>
              <a:t>حریم</a:t>
            </a:r>
            <a:endParaRPr lang="fa-IR"/>
          </a:p>
        </p:txBody>
      </p:sp>
      <p:sp>
        <p:nvSpPr>
          <p:cNvPr id="20" name="">
            <a:extLst>
              <a:ext uri="{FF2B5EF4-FFF2-40B4-BE49-F238E27FC236}">
                <ns2:creationId id="{63951766-969A-46A6-AA77-159E30C6B45B}"/>
              </a:ext>
            </a:extLst>
          </p:cNvPr>
          <p:cNvSpPr>
            <a:spLocks noGrp="1"/>
          </p:cNvSpPr>
          <p:nvPr/>
        </p:nvSpPr>
        <p:spPr>
          <a:xfrm>
            <a:off x="895350" y="4648200"/>
            <a:ext cx="468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defRPr>
            </a:pPr>
            <a:r>
              <a:rPr sz="1125" b="0" lang="fa-IR">
                <a:solidFill>
                  <a:srgbClr val="60747A"/>
                </a:solidFill>
                <a:latin typeface="Kalameh"/>
                <a:ea typeface="Kalameh"/>
                <a:cs typeface="Kalameh"/>
              </a:rPr>
              <a:t>بدون کلید، شناسه یا مسیر محلی</a:t>
            </a:r>
            <a:endParaRPr lang="fa-IR"/>
          </a:p>
        </p:txBody>
      </p:sp>
      <p:sp>
        <p:nvSpPr>
          <p:cNvPr id="21" name="">
            <a:extLst>
              <a:ext uri="{FF2B5EF4-FFF2-40B4-BE49-F238E27FC236}">
                <ns2:creationId id="{56CF901D-7E26-45F8-ACDD-87FC67D68A35}"/>
              </a:ext>
            </a:extLst>
          </p:cNvPr>
          <p:cNvSpPr>
            <a:spLocks noGrp="1"/>
          </p:cNvSpPr>
          <p:nvPr/>
        </p:nvSpPr>
        <p:spPr>
          <a:xfrm>
            <a:off x="6096000" y="4191000"/>
            <a:ext cx="5105400" cy="1066800"/>
          </a:xfrm>
          <a:prstGeom prst="roundRect">
            <a:avLst>
              <a:gd name="adj" fmla="val 10714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C63243B2-95F2-4B36-B7FF-9FF7903DE8ED}"/>
              </a:ext>
            </a:extLst>
          </p:cNvPr>
          <p:cNvSpPr>
            <a:spLocks noGrp="1"/>
          </p:cNvSpPr>
          <p:nvPr/>
        </p:nvSpPr>
        <p:spPr>
          <a:xfrm>
            <a:off x="6305550" y="4305300"/>
            <a:ext cx="468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350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350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انتشار</a:t>
            </a:r>
            <a:endParaRPr lang="fa-IR"/>
          </a:p>
        </p:txBody>
      </p:sp>
      <p:sp>
        <p:nvSpPr>
          <p:cNvPr id="23" name="">
            <a:extLst>
              <a:ext uri="{FF2B5EF4-FFF2-40B4-BE49-F238E27FC236}">
                <ns2:creationId id="{BF333D63-E871-49F2-B326-CDF151135FA8}"/>
              </a:ext>
            </a:extLst>
          </p:cNvPr>
          <p:cNvSpPr>
            <a:spLocks noGrp="1"/>
          </p:cNvSpPr>
          <p:nvPr/>
        </p:nvSpPr>
        <p:spPr>
          <a:xfrm>
            <a:off x="6305550" y="4648200"/>
            <a:ext cx="4686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125" b="0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125" b="0" lang="en-US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CI</a:t>
            </a:r>
            <a:r>
              <a:rPr sz="11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 ویندوز و لینوکس + ممیزی مجوز</a:t>
            </a:r>
            <a:endParaRPr lang="fa-IR"/>
          </a:p>
        </p:txBody>
      </p:sp>
    </p:spTree>
    <p:extLst>
      <p:ext uri="{BB962C8B-B14F-4D97-AF65-F5344CB8AC3E}">
        <ns3:creationId val="167767542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A2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2FD97179-4663-4FF7-87ED-5798B53C378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14300" cy="1200150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1E3C0C0F-A33B-409A-B8F7-80C93B96879A}"/>
              </a:ext>
            </a:extLst>
          </p:cNvPr>
          <p:cNvSpPr>
            <a:spLocks noGrp="1"/>
          </p:cNvSpPr>
          <p:nvPr/>
        </p:nvSpPr>
        <p:spPr>
          <a:xfrm>
            <a:off x="1047750" y="762000"/>
            <a:ext cx="10096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3600" b="1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3600" b="1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جمع‌بندی انتشار</a:t>
            </a:r>
            <a:endParaRPr lang="fa-IR"/>
          </a:p>
        </p:txBody>
      </p:sp>
      <p:sp>
        <p:nvSpPr>
          <p:cNvPr id="3" name="">
            <a:extLst>
              <a:ext uri="{FF2B5EF4-FFF2-40B4-BE49-F238E27FC236}">
                <ns2:creationId id="{04C78FDD-5C4E-4719-855A-A500FDE4D810}"/>
              </a:ext>
            </a:extLst>
          </p:cNvPr>
          <p:cNvSpPr>
            <a:spLocks noGrp="1"/>
          </p:cNvSpPr>
          <p:nvPr/>
        </p:nvSpPr>
        <p:spPr>
          <a:xfrm>
            <a:off x="1047750" y="2057400"/>
            <a:ext cx="1009650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950" b="0" lang="fa-IR">
                <a:solidFill>
                  <a:srgbClr val="F4EEE2"/>
                </a:solidFill>
                <a:latin typeface="Kalameh"/>
                <a:ea typeface="Kalameh"/>
                <a:cs typeface="Kalameh"/>
              </a:defRPr>
            </a:pPr>
            <a:r>
              <a:rPr sz="1950" b="0" lang="fa-IR">
                <a:solidFill>
                  <a:srgbClr val="F4EEE2"/>
                </a:solidFill>
                <a:latin typeface="Kalameh"/>
                <a:ea typeface="Kalameh"/>
                <a:cs typeface="Kalameh"/>
              </a:rPr>
              <a:t>این آزمون سرتاسری، ورود چندزبانه منابع، جست‌وجو، بازیابی ایجنتیک، کارهای زنده استودیو، خروجی‌های یادگیری، اسلاید، صوت و ویدیوی مبتنی بر رسانه مجاز را تأیید می‌کند.</a:t>
            </a:r>
            <a:endParaRPr lang="fa-IR"/>
          </a:p>
        </p:txBody>
      </p:sp>
      <p:sp>
        <p:nvSpPr>
          <p:cNvPr id="4" name="">
            <a:extLst>
              <a:ext uri="{FF2B5EF4-FFF2-40B4-BE49-F238E27FC236}">
                <ns2:creationId id="{CE9F6FF5-43A2-4ADD-BDBA-940EEA4B7ED7}"/>
              </a:ext>
            </a:extLst>
          </p:cNvPr>
          <p:cNvSpPr>
            <a:spLocks noGrp="1"/>
          </p:cNvSpPr>
          <p:nvPr/>
        </p:nvSpPr>
        <p:spPr>
          <a:xfrm>
            <a:off x="1047750" y="4095750"/>
            <a:ext cx="10096500" cy="952500"/>
          </a:xfrm>
          <a:prstGeom prst="roundRect">
            <a:avLst>
              <a:gd name="adj" fmla="val 12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CE1E7CC-49BA-4B96-A3F8-DB099FFB01AC}"/>
              </a:ext>
            </a:extLst>
          </p:cNvPr>
          <p:cNvSpPr>
            <a:spLocks noGrp="1"/>
          </p:cNvSpPr>
          <p:nvPr/>
        </p:nvSpPr>
        <p:spPr>
          <a:xfrm>
            <a:off x="1352550" y="4248150"/>
            <a:ext cx="9486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 rtl="1">
              <a:defRPr sz="1425" b="0" lang="fa-IR">
                <a:solidFill>
                  <a:srgbClr val="FFFFFF"/>
                </a:solidFill>
                <a:latin typeface="Kalameh"/>
                <a:ea typeface="Kalameh"/>
                <a:cs typeface="Kalameh"/>
              </a:defRPr>
            </a:pPr>
            <a:r>
              <a:rPr sz="1425" b="0" lang="fa-IR">
                <a:solidFill>
                  <a:srgbClr val="FFFFFF"/>
                </a:solidFill>
                <a:latin typeface="Kalameh"/>
                <a:ea typeface="Kalameh"/>
                <a:cs typeface="Kalameh"/>
              </a:rPr>
              <a:t>تمام فایل‌های منتشرشده خروجی خود برنامه هستند و مانیفست‌ها هش، کیفیت و منشأ رسانه را ثبت می‌کنند.</a:t>
            </a:r>
            <a:endParaRPr lang="fa-IR"/>
          </a:p>
        </p:txBody>
      </p:sp>
      <p:sp>
        <p:nvSpPr>
          <p:cNvPr id="6" name="">
            <a:extLst>
              <a:ext uri="{FF2B5EF4-FFF2-40B4-BE49-F238E27FC236}">
                <ns2:creationId id="{238CFA15-B7A3-4F1A-84C0-7568B36E3AAD}"/>
              </a:ext>
            </a:extLst>
            <a:hlinkClick r:id="rId1"/>
          </p:cNvPr>
          <p:cNvSpPr>
            <a:spLocks noGrp="1"/>
          </p:cNvSpPr>
          <p:nvPr/>
        </p:nvSpPr>
        <p:spPr>
          <a:xfrm>
            <a:off x="1047750" y="5753100"/>
            <a:ext cx="1009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2ED3B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D3B7"/>
                </a:solidFill>
                <a:latin typeface="Aptos"/>
                <a:ea typeface="Aptos"/>
                <a:cs typeface="Aptos"/>
                <a:hlinkClick r:id="rId1"/>
              </a:rPr>
              <a:t>https://github.com/msmahdinejad/SourceLens</a:t>
            </a:r>
          </a:p>
        </p:txBody>
      </p:sp>
    </p:spTree>
    <p:extLst>
      <p:ext uri="{BB962C8B-B14F-4D97-AF65-F5344CB8AC3E}">
        <ns4:creationId val="1084598630"/>
      </p:ext>
    </p:extLst>
  </p:cSld>
</p:sld>
</file>

<file path=ppt/theme/theme1.xml><?xml version="1.0" encoding="utf-8"?>
<a:theme xmlns:a="http://schemas.openxmlformats.org/drawingml/2006/main" name="SourceLens">
  <a:themeElements>
    <a:clrScheme name="SourceLen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ourceLen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SourceLens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SourceLens</dc:creator>
  <lastModifiedBy>SourceLens</lastModifiedBy>
  <dc:title>Presentation</dc:title>
  <dcterms:created xsi:type="dcterms:W3CDTF">2026-08-09T20:51:02.0310000Z</dcterms:created>
  <dcterms:modified xsi:type="dcterms:W3CDTF">2026-08-09T20:51:02.0310000Z</dcterms:modified>
</coreProperties>
</file>