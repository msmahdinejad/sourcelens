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Charge While You Shop public demo</a:t>
            </a:r>
          </a:p>
          <a:p>
            <a:r>
              <a:t>docs/demo/README.md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docs/demo/source-research.md</a:t>
            </a:r>
          </a:p>
          <a:p>
            <a:r>
              <a:t>https://www.mdpi.com/1996-1073/14/15/4598</a:t>
            </a:r>
          </a:p>
          <a:p>
            <a:r>
              <a:t>https://publications.jrc.ec.europa.eu/repository/handle/JRC133895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docs/demo/assets/04-web-search-en.png</a:t>
            </a:r>
          </a:p>
          <a:p>
            <a:r>
              <a:t>docs/demo/source-research.md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docs/demo/outputs/en/index.json</a:t>
            </a:r>
          </a:p>
          <a:p>
            <a:r>
              <a:t>docs/demo/outputs/fa/index.json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https://github.com/msmahdinejad/SourceLens/raw/main/docs/demo/outputs/fa/charge-while-you-shop-slide-deck.pptx</a:t>
            </a:r>
          </a:p>
          <a:p>
            <a:r>
              <a:t>https://github.com/msmahdinejad/SourceLens/raw/main/docs/demo/outputs/fa/charge-while-you-shop-video-overview.mp4</a:t>
            </a:r>
          </a:p>
          <a:p>
            <a:r>
              <a:t>https://www.pexels.com/license/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scripts/validate_public_demo.py</a:t>
            </a:r>
          </a:p>
          <a:p>
            <a:r>
              <a:t>docs/retrieval-benchmark.md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docs/demo/outputs/fa/charge-while-you-shop-audio-overview.mp3</a:t>
            </a:r>
          </a:p>
          <a:p>
            <a:r>
              <a:t>docs/demo/outputs/fa/charge-while-you-shop-audio-overview-transcript.txt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SourceLens final demo run, 2026-08-09</a:t>
            </a:r>
          </a:p>
          <a:p>
            <a:r>
              <a:t>docs/demo/README.md</a:t>
            </a:r>
          </a:p>
          <a:p>
            <a:r>
              <a:t>docs/demo/README.fa.md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hyperlink" Target="https://github.com/msmahdinejad/SourceLens/raw/main/docs/demo/outputs/fa/charge-while-you-shop-video-overview.mp4" TargetMode="External"/><Relationship Id="rId3" Type="http://schemas.openxmlformats.org/officeDocument/2006/relationships/hyperlink" Target="https://github.com/msmahdinejad/SourceLens/raw/main/docs/demo/outputs/fa/charge-while-you-shop-slide-deck.pptx" TargetMode="External"/><Relationship Id="rId2" Type="http://schemas.openxmlformats.org/officeDocument/2006/relationships/image" Target="../media/image1.jpe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github.com/msmahdinejad/SourceLen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rcRect l="27344" r="27344"/>
          <a:stretch>
            <a:fillRect/>
          </a:stretch>
        </p:blipFill>
        <p:spPr>
          <a:xfrm>
            <a:off x="0" y="0"/>
            <a:ext cx="5524500" cy="6858000"/>
          </a:xfrm>
          <a:prstGeom prst="roundRect">
            <a:avLst>
              <a:gd name="adj" fmla="val 2069"/>
            </a:avLst>
          </a:prstGeom>
        </p:spPr>
      </p:pic>
      <p:sp>
        <p:nvSpPr>
          <p:cNvPr id="2" name="Rectangle 1"/>
          <p:cNvSpPr>
            <a:spLocks noGrp="1"/>
          </p:cNvSpPr>
          <p:nvPr/>
        </p:nvSpPr>
        <p:spPr>
          <a:xfrm>
            <a:off x="5524500" y="0"/>
            <a:ext cx="6667500" cy="6858000"/>
          </a:xfrm>
          <a:prstGeom prst="rect">
            <a:avLst/>
          </a:prstGeom>
          <a:solidFill>
            <a:srgbClr val="071A24"/>
          </a:solidFill>
          <a:ln w="0">
            <a:noFill/>
            <a:prstDash val="solid"/>
          </a:ln>
        </p:spPr>
      </p:sp>
      <p:sp>
        <p:nvSpPr>
          <p:cNvPr id="3" name="Rectangle 2"/>
          <p:cNvSpPr>
            <a:spLocks noGrp="1"/>
          </p:cNvSpPr>
          <p:nvPr/>
        </p:nvSpPr>
        <p:spPr>
          <a:xfrm>
            <a:off x="11353800" y="876300"/>
            <a:ext cx="152400" cy="1047750"/>
          </a:xfrm>
          <a:prstGeom prst="rect">
            <a:avLst/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4" name="Rectangle 3"/>
          <p:cNvSpPr>
            <a:spLocks noGrp="1"/>
          </p:cNvSpPr>
          <p:nvPr/>
        </p:nvSpPr>
        <p:spPr>
          <a:xfrm>
            <a:off x="6096000" y="1676400"/>
            <a:ext cx="5238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3600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3600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ارزیابی نهایی سامانه </a:t>
            </a:r>
            <a:r>
              <a:rPr lang="en-US" sz="3600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SourceLens</a:t>
            </a:r>
            <a:endParaRPr lang="fa-IR"/>
          </a:p>
        </p:txBody>
      </p:sp>
      <p:sp>
        <p:nvSpPr>
          <p:cNvPr id="5" name="Rectangle 4"/>
          <p:cNvSpPr>
            <a:spLocks noGrp="1"/>
          </p:cNvSpPr>
          <p:nvPr/>
        </p:nvSpPr>
        <p:spPr>
          <a:xfrm>
            <a:off x="6096000" y="3371850"/>
            <a:ext cx="5238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650" b="0">
                <a:solidFill>
                  <a:srgbClr val="F4EEE2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650" b="0">
                <a:solidFill>
                  <a:srgbClr val="F4EEE2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آزمون واقعی دوزبانه؛ از منابع معتبر تا ۲۶ خروجی کاربردی</a:t>
            </a:r>
            <a:endParaRPr lang="fa-IR"/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096000" y="5334000"/>
            <a:ext cx="5238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200" b="0">
                <a:solidFill>
                  <a:srgbClr val="2ED3B7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200" b="0">
                <a:solidFill>
                  <a:srgbClr val="2ED3B7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شارژ هنگام خرید · ۱۸ مرداد ۱۴۰۵</a:t>
            </a:r>
            <a:endParaRPr lang="fa-I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ectangle 15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9620250" y="3238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SOURCELENS</a:t>
            </a:r>
            <a:endParaRPr sz="975" b="1">
              <a:solidFill>
                <a:srgbClr val="0E756F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477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هفت منبع و یک مرز شفاف برای شواهد</a:t>
            </a:r>
            <a:endParaRPr lang="fa-IR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257300"/>
            <a:ext cx="685800" cy="47625"/>
          </a:xfrm>
          <a:prstGeom prst="rect">
            <a:avLst/>
          </a:prstGeom>
          <a:solidFill>
            <a:srgbClr val="FF795B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0" y="630555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02</a:t>
            </a:r>
            <a:endParaRPr sz="900" b="1">
              <a:solidFill>
                <a:srgbClr val="60747A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rcRect l="6828" r="6828"/>
          <a:stretch>
            <a:fillRect/>
          </a:stretch>
        </p:blipFill>
        <p:spPr>
          <a:xfrm>
            <a:off x="685800" y="1600200"/>
            <a:ext cx="628650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7" name="Rounded Rectangle 6"/>
          <p:cNvSpPr>
            <a:spLocks noGrp="1"/>
          </p:cNvSpPr>
          <p:nvPr/>
        </p:nvSpPr>
        <p:spPr>
          <a:xfrm>
            <a:off x="7334250" y="1600200"/>
            <a:ext cx="18669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3E2"/>
            </a:solidFill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7505700" y="1733550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۷</a:t>
            </a:r>
            <a:endParaRPr lang="fa-IR"/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505700" y="2228850"/>
            <a:ext cx="152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منبع آماده</a:t>
            </a:r>
            <a:endParaRPr lang="fa-IR"/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9429750" y="1600200"/>
            <a:ext cx="20764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3E2"/>
            </a:solidFill>
            <a:prstDash val="solid"/>
          </a:ln>
        </p:spPr>
      </p:sp>
      <p:sp>
        <p:nvSpPr>
          <p:cNvPr id="11" name="Rectangle 10"/>
          <p:cNvSpPr>
            <a:spLocks noGrp="1"/>
          </p:cNvSpPr>
          <p:nvPr/>
        </p:nvSpPr>
        <p:spPr>
          <a:xfrm>
            <a:off x="9601200" y="1733550"/>
            <a:ext cx="1733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۲۳۶</a:t>
            </a:r>
            <a:endParaRPr lang="fa-IR"/>
          </a:p>
        </p:txBody>
      </p:sp>
      <p:sp>
        <p:nvSpPr>
          <p:cNvPr id="12" name="Rectangle 11"/>
          <p:cNvSpPr>
            <a:spLocks noGrp="1"/>
          </p:cNvSpPr>
          <p:nvPr/>
        </p:nvSpPr>
        <p:spPr>
          <a:xfrm>
            <a:off x="9601200" y="2228850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قطعه نمایه‌شده</a:t>
            </a:r>
            <a:endParaRPr lang="fa-IR"/>
          </a:p>
        </p:txBody>
      </p:sp>
      <p:sp>
        <p:nvSpPr>
          <p:cNvPr id="13" name="Rectangle 12"/>
          <p:cNvSpPr>
            <a:spLocks noGrp="1"/>
          </p:cNvSpPr>
          <p:nvPr/>
        </p:nvSpPr>
        <p:spPr>
          <a:xfrm>
            <a:off x="7334250" y="3143250"/>
            <a:ext cx="41719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575" b="0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575" b="0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دو مقاله با مجوز باز و پنج منبع رسمی وب از مسیرهای بارگذاری و جست‌وجوی خود برنامه اضافه شدند.</a:t>
            </a:r>
            <a:endParaRPr lang="fa-IR"/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7334250" y="5010150"/>
            <a:ext cx="4171950" cy="685800"/>
          </a:xfrm>
          <a:prstGeom prst="roundRect">
            <a:avLst>
              <a:gd name="adj" fmla="val 16667"/>
            </a:avLst>
          </a:prstGeom>
          <a:solidFill>
            <a:srgbClr val="0B2D36"/>
          </a:solidFill>
          <a:ln w="0">
            <a:noFill/>
            <a:prstDash val="solid"/>
          </a:ln>
        </p:spPr>
      </p:sp>
      <p:sp>
        <p:nvSpPr>
          <p:cNvPr id="15" name="Rectangle 14"/>
          <p:cNvSpPr>
            <a:spLocks noGrp="1"/>
          </p:cNvSpPr>
          <p:nvPr/>
        </p:nvSpPr>
        <p:spPr>
          <a:xfrm>
            <a:off x="7562850" y="512445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425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425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۲ مقاله باز + ۵ منبع رسمی وب</a:t>
            </a:r>
            <a:endParaRPr lang="fa-I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Rectangle 9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9620250" y="3238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SOURCELENS</a:t>
            </a:r>
            <a:endParaRPr sz="975" b="1">
              <a:solidFill>
                <a:srgbClr val="0E756F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477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جست‌وجوی وب به منبع پژوهشی تبدیل می‌شود</a:t>
            </a:r>
            <a:endParaRPr lang="fa-IR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257300"/>
            <a:ext cx="685800" cy="47625"/>
          </a:xfrm>
          <a:prstGeom prst="rect">
            <a:avLst/>
          </a:prstGeom>
          <a:solidFill>
            <a:srgbClr val="FF795B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0" y="630555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03</a:t>
            </a:r>
            <a:endParaRPr sz="900" b="1">
              <a:solidFill>
                <a:srgbClr val="60747A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66888"/>
            <a:ext cx="6858000" cy="3857625"/>
          </a:xfrm>
          <a:prstGeom prst="roundRect">
            <a:avLst>
              <a:gd name="adj" fmla="val 2703"/>
            </a:avLst>
          </a:prstGeom>
        </p:spPr>
      </p:pic>
      <p:sp>
        <p:nvSpPr>
          <p:cNvPr id="7" name="Rounded Rectangle 6"/>
          <p:cNvSpPr>
            <a:spLocks noGrp="1"/>
          </p:cNvSpPr>
          <p:nvPr/>
        </p:nvSpPr>
        <p:spPr>
          <a:xfrm>
            <a:off x="7924800" y="1676400"/>
            <a:ext cx="3581400" cy="3124200"/>
          </a:xfrm>
          <a:prstGeom prst="roundRect">
            <a:avLst>
              <a:gd name="adj" fmla="val 3659"/>
            </a:avLst>
          </a:prstGeom>
          <a:solidFill>
            <a:srgbClr val="0B2D36"/>
          </a:solidFill>
          <a:ln w="0">
            <a:noFill/>
            <a:prstDash val="solid"/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8210550" y="1981200"/>
            <a:ext cx="300990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57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57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برنامه وب را جست‌وجو کرد، منابع منتخب را دریافت کرد و متن آن‌ها را کنار مقاله‌های بارگذاری‌شده نمایه ساخت.</a:t>
            </a:r>
            <a:endParaRPr lang="fa-IR"/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924800" y="5067300"/>
            <a:ext cx="3581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20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20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جست‌وجو · انتخاب · استخراج · نمایه‌سازی</a:t>
            </a:r>
            <a:endParaRPr lang="fa-I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9620250" y="3238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SOURCELENS</a:t>
            </a:r>
            <a:endParaRPr sz="975" b="1">
              <a:solidFill>
                <a:srgbClr val="0E756F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477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استودیو یک مجموعه منبع را به خروجی‌های متعدد تبدیل می‌کند</a:t>
            </a:r>
            <a:endParaRPr lang="fa-IR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257300"/>
            <a:ext cx="685800" cy="47625"/>
          </a:xfrm>
          <a:prstGeom prst="rect">
            <a:avLst/>
          </a:prstGeom>
          <a:solidFill>
            <a:srgbClr val="FF795B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0" y="630555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04</a:t>
            </a:r>
            <a:endParaRPr sz="900" b="1">
              <a:solidFill>
                <a:srgbClr val="60747A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rcRect l="4620" r="4620"/>
          <a:stretch>
            <a:fillRect/>
          </a:stretch>
        </p:blipFill>
        <p:spPr>
          <a:xfrm>
            <a:off x="685800" y="1619250"/>
            <a:ext cx="5010150" cy="3105150"/>
          </a:xfrm>
          <a:prstGeom prst="roundRect">
            <a:avLst>
              <a:gd name="adj" fmla="val 3681"/>
            </a:avLst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rcRect l="134" r="134"/>
          <a:stretch>
            <a:fillRect/>
          </a:stretch>
        </p:blipFill>
        <p:spPr>
          <a:xfrm>
            <a:off x="6000750" y="1619250"/>
            <a:ext cx="5505450" cy="3105150"/>
          </a:xfrm>
          <a:prstGeom prst="roundRect">
            <a:avLst>
              <a:gd name="adj" fmla="val 3681"/>
            </a:avLst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685800" y="4972050"/>
            <a:ext cx="108204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500" b="0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500" b="0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همان ۲۳۶ قطعه، هر ۱۳ قالب استودیو را به فارسی و انگلیسی ساخت؛ در مجموع ۲۶ خروجی تولیدشده با برنامه.</a:t>
            </a:r>
            <a:endParaRPr lang="fa-I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Rectangle 11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9620250" y="3238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SOURCELENS</a:t>
            </a:r>
            <a:endParaRPr sz="975" b="1">
              <a:solidFill>
                <a:srgbClr val="0E756F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477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اسلاید ویرایش‌پذیر و ویدیوی سینمایی</a:t>
            </a:r>
            <a:endParaRPr lang="fa-IR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257300"/>
            <a:ext cx="685800" cy="47625"/>
          </a:xfrm>
          <a:prstGeom prst="rect">
            <a:avLst/>
          </a:prstGeom>
          <a:solidFill>
            <a:srgbClr val="FF795B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0" y="630555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05</a:t>
            </a:r>
            <a:endParaRPr sz="900" b="1">
              <a:solidFill>
                <a:srgbClr val="60747A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rcRect l="11188" r="11188"/>
          <a:stretch>
            <a:fillRect/>
          </a:stretch>
        </p:blipFill>
        <p:spPr>
          <a:xfrm>
            <a:off x="685800" y="1600200"/>
            <a:ext cx="5257800" cy="3810000"/>
          </a:xfrm>
          <a:prstGeom prst="roundRect">
            <a:avLst>
              <a:gd name="adj" fmla="val 3000"/>
            </a:avLst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rcRect l="11188" r="11188"/>
          <a:stretch>
            <a:fillRect/>
          </a:stretch>
        </p:blipFill>
        <p:spPr>
          <a:xfrm>
            <a:off x="6248400" y="1600200"/>
            <a:ext cx="5257800" cy="3810000"/>
          </a:xfrm>
          <a:prstGeom prst="roundRect">
            <a:avLst>
              <a:gd name="adj" fmla="val 3000"/>
            </a:avLst>
          </a:prstGeom>
        </p:spPr>
      </p:pic>
      <p:sp>
        <p:nvSpPr>
          <p:cNvPr id="8" name="Rectangle 7"/>
          <p:cNvSpPr>
            <a:spLocks noGrp="1"/>
          </p:cNvSpPr>
          <p:nvPr/>
        </p:nvSpPr>
        <p:spPr>
          <a:xfrm>
            <a:off x="876300" y="5562600"/>
            <a:ext cx="487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rtl="1">
              <a:defRPr lang="fa-IR" sz="13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3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پاورپوینت ویرایش‌پذیر ۸ اسلایدی</a:t>
            </a:r>
            <a:endParaRPr lang="fa-IR"/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6438900" y="5562600"/>
            <a:ext cx="4876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 rtl="1">
              <a:defRPr lang="fa-IR" sz="13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3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ویدیوی دقیق ۶۰ ثانیه‌ای با وضوح کامل</a:t>
            </a:r>
            <a:endParaRPr lang="fa-IR"/>
          </a:p>
        </p:txBody>
      </p:sp>
      <p:sp>
        <p:nvSpPr>
          <p:cNvPr id="10" name="Rectangle 9">
            <a:hlinkClick r:id="rId3" action="ppaction://hlinkfile"/>
          </p:cNvPr>
          <p:cNvSpPr>
            <a:spLocks noGrp="1"/>
          </p:cNvSpPr>
          <p:nvPr/>
        </p:nvSpPr>
        <p:spPr>
          <a:xfrm>
            <a:off x="685800" y="600075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75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47A"/>
                </a:solidFill>
                <a:latin typeface="Aptos"/>
                <a:ea typeface="Aptos"/>
                <a:cs typeface="Aptos"/>
                <a:hlinkClick r:id="rId3" action="ppaction://hlinkfile"/>
              </a:rPr>
              <a:t>https://github.com/msmahdinejad/SourceLens/raw/main/docs/demo/outputs/fa/charge-while-you-shop-slide-deck.pptx</a:t>
            </a:r>
            <a:endParaRPr sz="675" b="0">
              <a:solidFill>
                <a:srgbClr val="60747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ectangle 10">
            <a:hlinkClick r:id="rId4" action="ppaction://hlinkfile"/>
          </p:cNvPr>
          <p:cNvSpPr>
            <a:spLocks noGrp="1"/>
          </p:cNvSpPr>
          <p:nvPr/>
        </p:nvSpPr>
        <p:spPr>
          <a:xfrm>
            <a:off x="6248400" y="6000750"/>
            <a:ext cx="5257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675" b="0">
                <a:solidFill>
                  <a:srgbClr val="60747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0747A"/>
                </a:solidFill>
                <a:latin typeface="Aptos"/>
                <a:ea typeface="Aptos"/>
                <a:cs typeface="Aptos"/>
                <a:hlinkClick r:id="rId4" action="ppaction://hlinkfile"/>
              </a:rPr>
              <a:t>https://github.com/msmahdinejad/SourceLens/raw/main/docs/demo/outputs/fa/charge-while-you-shop-video-overview.mp4</a:t>
            </a:r>
            <a:endParaRPr sz="675" b="0">
              <a:solidFill>
                <a:srgbClr val="60747A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ectangle 19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9620250" y="3238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SOURCELENS</a:t>
            </a:r>
            <a:endParaRPr sz="975" b="1">
              <a:solidFill>
                <a:srgbClr val="0E756F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477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همه کنترل‌های کیفیت موفق بودند</a:t>
            </a:r>
            <a:endParaRPr lang="fa-IR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257300"/>
            <a:ext cx="685800" cy="47625"/>
          </a:xfrm>
          <a:prstGeom prst="rect">
            <a:avLst/>
          </a:prstGeom>
          <a:solidFill>
            <a:srgbClr val="FF795B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0" y="630555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06</a:t>
            </a:r>
            <a:endParaRPr sz="900" b="1">
              <a:solidFill>
                <a:srgbClr val="60747A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85800" y="1676400"/>
            <a:ext cx="2476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3E2"/>
            </a:solidFill>
            <a:prstDash val="solid"/>
          </a:ln>
        </p:spPr>
      </p:sp>
      <p:sp>
        <p:nvSpPr>
          <p:cNvPr id="7" name="Rectangle 6"/>
          <p:cNvSpPr>
            <a:spLocks noGrp="1"/>
          </p:cNvSpPr>
          <p:nvPr/>
        </p:nvSpPr>
        <p:spPr>
          <a:xfrm>
            <a:off x="857250" y="180975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۲۶</a:t>
            </a:r>
            <a:endParaRPr lang="fa-IR"/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857250" y="230505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خروجی آماده</a:t>
            </a:r>
            <a:endParaRPr lang="fa-IR"/>
          </a:p>
        </p:txBody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3390900" y="1676400"/>
            <a:ext cx="2476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3E2"/>
            </a:solidFill>
            <a:prstDash val="solid"/>
          </a:ln>
        </p:spPr>
      </p:sp>
      <p:sp>
        <p:nvSpPr>
          <p:cNvPr id="10" name="Rectangle 9"/>
          <p:cNvSpPr>
            <a:spLocks noGrp="1"/>
          </p:cNvSpPr>
          <p:nvPr/>
        </p:nvSpPr>
        <p:spPr>
          <a:xfrm>
            <a:off x="3562350" y="180975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۶۰</a:t>
            </a:r>
            <a:endParaRPr lang="fa-IR"/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3562350" y="230505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هر ویدیو</a:t>
            </a:r>
            <a:endParaRPr lang="fa-IR"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6096000" y="1676400"/>
            <a:ext cx="24765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3E2"/>
            </a:solidFill>
            <a:prstDash val="solid"/>
          </a:ln>
        </p:spPr>
      </p:sp>
      <p:sp>
        <p:nvSpPr>
          <p:cNvPr id="13" name="Rectangle 12"/>
          <p:cNvSpPr>
            <a:spLocks noGrp="1"/>
          </p:cNvSpPr>
          <p:nvPr/>
        </p:nvSpPr>
        <p:spPr>
          <a:xfrm>
            <a:off x="6267450" y="1809750"/>
            <a:ext cx="2133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۱۰۸۰</a:t>
            </a:r>
            <a:endParaRPr lang="fa-IR"/>
          </a:p>
        </p:txBody>
      </p:sp>
      <p:sp>
        <p:nvSpPr>
          <p:cNvPr id="14" name="Rectangle 13"/>
          <p:cNvSpPr>
            <a:spLocks noGrp="1"/>
          </p:cNvSpPr>
          <p:nvPr/>
        </p:nvSpPr>
        <p:spPr>
          <a:xfrm>
            <a:off x="6267450" y="230505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وضوح ویدیو</a:t>
            </a:r>
            <a:endParaRPr lang="fa-IR"/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801100" y="1676400"/>
            <a:ext cx="270510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E3E2"/>
            </a:solidFill>
            <a:prstDash val="solid"/>
          </a:ln>
        </p:spPr>
      </p:sp>
      <p:sp>
        <p:nvSpPr>
          <p:cNvPr id="16" name="Rectangle 15"/>
          <p:cNvSpPr>
            <a:spLocks noGrp="1"/>
          </p:cNvSpPr>
          <p:nvPr/>
        </p:nvSpPr>
        <p:spPr>
          <a:xfrm>
            <a:off x="8972550" y="180975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2550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40/40</a:t>
            </a:r>
            <a:endParaRPr sz="2550" b="1">
              <a:solidFill>
                <a:srgbClr val="0E756F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sp>
        <p:nvSpPr>
          <p:cNvPr id="17" name="Rectangle 16"/>
          <p:cNvSpPr>
            <a:spLocks noGrp="1"/>
          </p:cNvSpPr>
          <p:nvPr/>
        </p:nvSpPr>
        <p:spPr>
          <a:xfrm>
            <a:off x="8972550" y="23050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200" b="0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تست رابط و رندر</a:t>
            </a:r>
            <a:endParaRPr lang="fa-IR"/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685800" y="3238500"/>
            <a:ext cx="10820400" cy="2247900"/>
          </a:xfrm>
          <a:prstGeom prst="roundRect">
            <a:avLst>
              <a:gd name="adj" fmla="val 5085"/>
            </a:avLst>
          </a:prstGeom>
          <a:solidFill>
            <a:srgbClr val="0B2D36"/>
          </a:solidFill>
          <a:ln w="0">
            <a:noFill/>
            <a:prstDash val="solid"/>
          </a:ln>
        </p:spPr>
      </p:sp>
      <p:sp>
        <p:nvSpPr>
          <p:cNvPr id="19" name="Rectangle 18"/>
          <p:cNvSpPr>
            <a:spLocks noGrp="1"/>
          </p:cNvSpPr>
          <p:nvPr/>
        </p:nvSpPr>
        <p:spPr>
          <a:xfrm>
            <a:off x="1047750" y="3524250"/>
            <a:ext cx="100965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مجموعه کامل تست‌های </a:t>
            </a:r>
            <a:r>
              <a:rPr lang="en-US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Python</a:t>
            </a:r>
            <a:r>
              <a: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 موفق بود</a:t>
            </a:r>
            <a:endParaRPr lang="fa-IR"/>
          </a:p>
          <a:p>
            <a:pPr algn="r" rtl="1">
              <a:def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تست‌های </a:t>
            </a:r>
            <a:r>
              <a:rPr lang="en-US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Node</a:t>
            </a:r>
            <a:r>
              <a: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، نحو </a:t>
            </a:r>
            <a:r>
              <a:rPr lang="en-US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JavaScript</a:t>
            </a:r>
            <a:r>
              <a: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 و ممیزی مجوزها سبز هستند</a:t>
            </a:r>
            <a:endParaRPr lang="fa-IR"/>
          </a:p>
          <a:p>
            <a:pPr algn="r" rtl="1">
              <a:def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ویدیوها: صدای طبیعی، کدک </a:t>
            </a:r>
            <a:r>
              <a:rPr lang="en-US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H.264</a:t>
            </a:r>
            <a:r>
              <a: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 و </a:t>
            </a:r>
            <a:r>
              <a:rPr lang="en-US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AAC</a:t>
            </a:r>
            <a:r>
              <a:rPr lang="fa-IR" sz="17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، زیرنویس و خط زمانی پاک</a:t>
            </a:r>
            <a:endParaRPr lang="fa-I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ectangle 24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9620250" y="323850"/>
            <a:ext cx="1885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75" b="1">
                <a:solidFill>
                  <a:srgbClr val="0E756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SOURCELENS</a:t>
            </a:r>
            <a:endParaRPr sz="975" b="1">
              <a:solidFill>
                <a:srgbClr val="0E756F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685800" y="6477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2700" b="1">
                <a:solidFill>
                  <a:srgbClr val="071A24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مرور صوتی طبیعی و دوزبانه</a:t>
            </a:r>
            <a:endParaRPr lang="fa-IR"/>
          </a:p>
        </p:txBody>
      </p:sp>
      <p:sp>
        <p:nvSpPr>
          <p:cNvPr id="4" name="Rectangle 3"/>
          <p:cNvSpPr>
            <a:spLocks noGrp="1"/>
          </p:cNvSpPr>
          <p:nvPr/>
        </p:nvSpPr>
        <p:spPr>
          <a:xfrm>
            <a:off x="685800" y="1257300"/>
            <a:ext cx="685800" cy="47625"/>
          </a:xfrm>
          <a:prstGeom prst="rect">
            <a:avLst/>
          </a:prstGeom>
          <a:solidFill>
            <a:srgbClr val="FF795B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0858500" y="6305550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sz="900" b="1">
                <a:solidFill>
                  <a:srgbClr val="60747A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07</a:t>
            </a:r>
            <a:endParaRPr sz="900" b="1">
              <a:solidFill>
                <a:srgbClr val="60747A"/>
              </a:solidFill>
              <a:latin typeface="Kalameh" panose="00000500000000000000"/>
              <a:ea typeface="Kalameh" panose="00000500000000000000"/>
              <a:cs typeface="Kalameh" panose="00000500000000000000"/>
            </a:endParaRPr>
          </a:p>
        </p:txBody>
      </p:sp>
      <p:sp>
        <p:nvSpPr>
          <p:cNvPr id="6" name="Rounded Rectangle 5"/>
          <p:cNvSpPr>
            <a:spLocks noGrp="1"/>
          </p:cNvSpPr>
          <p:nvPr/>
        </p:nvSpPr>
        <p:spPr>
          <a:xfrm>
            <a:off x="685800" y="1600200"/>
            <a:ext cx="4953000" cy="3733800"/>
          </a:xfrm>
          <a:prstGeom prst="roundRect">
            <a:avLst>
              <a:gd name="adj" fmla="val 3061"/>
            </a:avLst>
          </a:prstGeom>
          <a:solidFill>
            <a:srgbClr val="0B2D36"/>
          </a:solidFill>
          <a:ln w="0">
            <a:noFill/>
            <a:prstDash val="solid"/>
          </a:ln>
        </p:spPr>
      </p:sp>
      <p:sp>
        <p:nvSpPr>
          <p:cNvPr id="7" name="Rounded Rectangle 6"/>
          <p:cNvSpPr>
            <a:spLocks noGrp="1"/>
          </p:cNvSpPr>
          <p:nvPr/>
        </p:nvSpPr>
        <p:spPr>
          <a:xfrm>
            <a:off x="1066800" y="3238500"/>
            <a:ext cx="114300" cy="457200"/>
          </a:xfrm>
          <a:prstGeom prst="roundRect">
            <a:avLst>
              <a:gd name="adj" fmla="val 50000"/>
            </a:avLst>
          </a:prstGeom>
          <a:solidFill>
            <a:srgbClr val="0E756F"/>
          </a:solidFill>
          <a:ln w="0">
            <a:noFill/>
            <a:prstDash val="solid"/>
          </a:ln>
        </p:spPr>
      </p:sp>
      <p:sp>
        <p:nvSpPr>
          <p:cNvPr id="8" name="Rounded Rectangle 7"/>
          <p:cNvSpPr>
            <a:spLocks noGrp="1"/>
          </p:cNvSpPr>
          <p:nvPr/>
        </p:nvSpPr>
        <p:spPr>
          <a:xfrm>
            <a:off x="1362075" y="3124200"/>
            <a:ext cx="114300" cy="666750"/>
          </a:xfrm>
          <a:prstGeom prst="roundRect">
            <a:avLst>
              <a:gd name="adj" fmla="val 50000"/>
            </a:avLst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9" name="Rounded Rectangle 8"/>
          <p:cNvSpPr>
            <a:spLocks noGrp="1"/>
          </p:cNvSpPr>
          <p:nvPr/>
        </p:nvSpPr>
        <p:spPr>
          <a:xfrm>
            <a:off x="1657350" y="3009900"/>
            <a:ext cx="114300" cy="876300"/>
          </a:xfrm>
          <a:prstGeom prst="roundRect">
            <a:avLst>
              <a:gd name="adj" fmla="val 50000"/>
            </a:avLst>
          </a:prstGeom>
          <a:solidFill>
            <a:srgbClr val="0E756F"/>
          </a:solidFill>
          <a:ln w="0">
            <a:noFill/>
            <a:prstDash val="solid"/>
          </a:ln>
        </p:spPr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1952625" y="2895600"/>
            <a:ext cx="114300" cy="1085850"/>
          </a:xfrm>
          <a:prstGeom prst="roundRect">
            <a:avLst>
              <a:gd name="adj" fmla="val 50000"/>
            </a:avLst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11" name="Rounded Rectangle 10"/>
          <p:cNvSpPr>
            <a:spLocks noGrp="1"/>
          </p:cNvSpPr>
          <p:nvPr/>
        </p:nvSpPr>
        <p:spPr>
          <a:xfrm>
            <a:off x="2247900" y="2781300"/>
            <a:ext cx="114300" cy="1295400"/>
          </a:xfrm>
          <a:prstGeom prst="roundRect">
            <a:avLst>
              <a:gd name="adj" fmla="val 50000"/>
            </a:avLst>
          </a:prstGeom>
          <a:solidFill>
            <a:srgbClr val="0E756F"/>
          </a:solidFill>
          <a:ln w="0">
            <a:noFill/>
            <a:prstDash val="solid"/>
          </a:ln>
        </p:spPr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2543175" y="3238500"/>
            <a:ext cx="114300" cy="457200"/>
          </a:xfrm>
          <a:prstGeom prst="roundRect">
            <a:avLst>
              <a:gd name="adj" fmla="val 50000"/>
            </a:avLst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13" name="Rounded Rectangle 12"/>
          <p:cNvSpPr>
            <a:spLocks noGrp="1"/>
          </p:cNvSpPr>
          <p:nvPr/>
        </p:nvSpPr>
        <p:spPr>
          <a:xfrm>
            <a:off x="2838450" y="3124200"/>
            <a:ext cx="114300" cy="666750"/>
          </a:xfrm>
          <a:prstGeom prst="roundRect">
            <a:avLst>
              <a:gd name="adj" fmla="val 50000"/>
            </a:avLst>
          </a:prstGeom>
          <a:solidFill>
            <a:srgbClr val="0E756F"/>
          </a:solidFill>
          <a:ln w="0">
            <a:noFill/>
            <a:prstDash val="solid"/>
          </a:ln>
        </p:spPr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3133725" y="3009900"/>
            <a:ext cx="114300" cy="876300"/>
          </a:xfrm>
          <a:prstGeom prst="roundRect">
            <a:avLst>
              <a:gd name="adj" fmla="val 50000"/>
            </a:avLst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3429000" y="2895600"/>
            <a:ext cx="114300" cy="1085850"/>
          </a:xfrm>
          <a:prstGeom prst="roundRect">
            <a:avLst>
              <a:gd name="adj" fmla="val 50000"/>
            </a:avLst>
          </a:prstGeom>
          <a:solidFill>
            <a:srgbClr val="0E756F"/>
          </a:solidFill>
          <a:ln w="0">
            <a:noFill/>
            <a:prstDash val="solid"/>
          </a:ln>
        </p:spPr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3724275" y="2781300"/>
            <a:ext cx="114300" cy="1295400"/>
          </a:xfrm>
          <a:prstGeom prst="roundRect">
            <a:avLst>
              <a:gd name="adj" fmla="val 50000"/>
            </a:avLst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17" name="Rounded Rectangle 16"/>
          <p:cNvSpPr>
            <a:spLocks noGrp="1"/>
          </p:cNvSpPr>
          <p:nvPr/>
        </p:nvSpPr>
        <p:spPr>
          <a:xfrm>
            <a:off x="4019550" y="3238500"/>
            <a:ext cx="114300" cy="457200"/>
          </a:xfrm>
          <a:prstGeom prst="roundRect">
            <a:avLst>
              <a:gd name="adj" fmla="val 50000"/>
            </a:avLst>
          </a:prstGeom>
          <a:solidFill>
            <a:srgbClr val="0E756F"/>
          </a:solidFill>
          <a:ln w="0">
            <a:noFill/>
            <a:prstDash val="solid"/>
          </a:ln>
        </p:spPr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4314825" y="3124200"/>
            <a:ext cx="114300" cy="666750"/>
          </a:xfrm>
          <a:prstGeom prst="roundRect">
            <a:avLst>
              <a:gd name="adj" fmla="val 50000"/>
            </a:avLst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4610100" y="3009900"/>
            <a:ext cx="114300" cy="876300"/>
          </a:xfrm>
          <a:prstGeom prst="roundRect">
            <a:avLst>
              <a:gd name="adj" fmla="val 50000"/>
            </a:avLst>
          </a:prstGeom>
          <a:solidFill>
            <a:srgbClr val="0E756F"/>
          </a:solidFill>
          <a:ln w="0">
            <a:noFill/>
            <a:prstDash val="solid"/>
          </a:ln>
        </p:spPr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4905375" y="2895600"/>
            <a:ext cx="114300" cy="1085850"/>
          </a:xfrm>
          <a:prstGeom prst="roundRect">
            <a:avLst>
              <a:gd name="adj" fmla="val 50000"/>
            </a:avLst>
          </a:prstGeom>
          <a:solidFill>
            <a:srgbClr val="2ED3B7"/>
          </a:solidFill>
          <a:ln w="0">
            <a:noFill/>
            <a:prstDash val="solid"/>
          </a:ln>
        </p:spPr>
      </p:sp>
      <p:sp>
        <p:nvSpPr>
          <p:cNvPr id="21" name="Rectangle 20"/>
          <p:cNvSpPr>
            <a:spLocks noGrp="1"/>
          </p:cNvSpPr>
          <p:nvPr/>
        </p:nvSpPr>
        <p:spPr>
          <a:xfrm>
            <a:off x="1066800" y="1809750"/>
            <a:ext cx="4095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575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575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۸ نوبت گفتگو</a:t>
            </a:r>
            <a:endParaRPr lang="fa-IR"/>
          </a:p>
          <a:p>
            <a:pPr algn="r" rtl="1">
              <a:defRPr lang="fa-IR" sz="1575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575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صوت طبیعی</a:t>
            </a:r>
            <a:endParaRPr lang="fa-IR"/>
          </a:p>
          <a:p>
            <a:pPr algn="r" rtl="1">
              <a:defRPr lang="fa-IR" sz="1575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575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رونوشت دانلودپذیر</a:t>
            </a:r>
            <a:endParaRPr lang="fa-IR"/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5962650" y="1600200"/>
            <a:ext cx="5543550" cy="3733800"/>
          </a:xfrm>
          <a:prstGeom prst="roundRect">
            <a:avLst>
              <a:gd name="adj" fmla="val 3061"/>
            </a:avLst>
          </a:prstGeom>
          <a:solidFill>
            <a:srgbClr val="0B2D36"/>
          </a:solidFill>
          <a:ln w="0">
            <a:noFill/>
            <a:prstDash val="solid"/>
          </a:ln>
        </p:spPr>
      </p:sp>
      <p:sp>
        <p:nvSpPr>
          <p:cNvPr id="23" name="Rectangle 22"/>
          <p:cNvSpPr>
            <a:spLocks noGrp="1"/>
          </p:cNvSpPr>
          <p:nvPr/>
        </p:nvSpPr>
        <p:spPr>
          <a:xfrm>
            <a:off x="6286500" y="1847850"/>
            <a:ext cx="48958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500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500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مسیر خودکار صوت، دو گفت‌وگوی مستند را طراحی و با صداهای محلی </a:t>
            </a:r>
            <a:r>
              <a:rPr lang="en-US" sz="1500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Piper</a:t>
            </a:r>
            <a:r>
              <a:rPr lang="fa-IR" sz="1500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 تولید کرد؛ بدون تغییر سرعت طبیعی گوینده.</a:t>
            </a:r>
            <a:endParaRPr lang="fa-IR"/>
          </a:p>
        </p:txBody>
      </p:sp>
      <p:sp>
        <p:nvSpPr>
          <p:cNvPr id="24" name="Rectangle 23"/>
          <p:cNvSpPr>
            <a:spLocks noGrp="1"/>
          </p:cNvSpPr>
          <p:nvPr/>
        </p:nvSpPr>
        <p:spPr>
          <a:xfrm>
            <a:off x="6286500" y="4000500"/>
            <a:ext cx="48958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350" b="1">
                <a:solidFill>
                  <a:srgbClr val="2ED3B7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350" b="1">
                <a:solidFill>
                  <a:srgbClr val="2ED3B7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انگلیسی: ۹۴٫۷ ثانیه</a:t>
            </a:r>
            <a:endParaRPr lang="fa-IR"/>
          </a:p>
          <a:p>
            <a:pPr algn="r" rtl="1">
              <a:defRPr lang="fa-IR" sz="1350" b="1">
                <a:solidFill>
                  <a:srgbClr val="2ED3B7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350" b="1">
                <a:solidFill>
                  <a:srgbClr val="2ED3B7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فارسی: ۱۴۹٫۴ ثانیه</a:t>
            </a:r>
            <a:endParaRPr lang="fa-IR"/>
          </a:p>
          <a:p>
            <a:pPr algn="r" rtl="1">
              <a:defRPr lang="fa-IR" sz="1350" b="1">
                <a:solidFill>
                  <a:srgbClr val="2ED3B7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350" b="1">
                <a:solidFill>
                  <a:srgbClr val="2ED3B7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۲۸ رویداد زنده برای هر خروجی</a:t>
            </a:r>
            <a:endParaRPr lang="fa-I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A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>
            <a:spLocks noGrp="1"/>
          </p:cNvSpPr>
          <p:nvPr/>
        </p:nvSpPr>
        <p:spPr>
          <a:xfrm>
            <a:off x="685800" y="685800"/>
            <a:ext cx="114300" cy="1200150"/>
          </a:xfrm>
          <a:prstGeom prst="rect">
            <a:avLst/>
          </a:prstGeom>
          <a:solidFill>
            <a:srgbClr val="FF795B"/>
          </a:solidFill>
          <a:ln w="0">
            <a:noFill/>
            <a:prstDash val="solid"/>
          </a:ln>
        </p:spPr>
      </p:sp>
      <p:sp>
        <p:nvSpPr>
          <p:cNvPr id="2" name="Rectangle 1"/>
          <p:cNvSpPr>
            <a:spLocks noGrp="1"/>
          </p:cNvSpPr>
          <p:nvPr/>
        </p:nvSpPr>
        <p:spPr>
          <a:xfrm>
            <a:off x="1047750" y="762000"/>
            <a:ext cx="10096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3600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3600" b="1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جمع‌بندی انتشار</a:t>
            </a:r>
            <a:endParaRPr lang="fa-IR"/>
          </a:p>
        </p:txBody>
      </p:sp>
      <p:sp>
        <p:nvSpPr>
          <p:cNvPr id="3" name="Rectangle 2"/>
          <p:cNvSpPr>
            <a:spLocks noGrp="1"/>
          </p:cNvSpPr>
          <p:nvPr/>
        </p:nvSpPr>
        <p:spPr>
          <a:xfrm>
            <a:off x="1047750" y="2057400"/>
            <a:ext cx="1009650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950" b="0">
                <a:solidFill>
                  <a:srgbClr val="F4EEE2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950" b="0">
                <a:solidFill>
                  <a:srgbClr val="F4EEE2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این آزمون سرتاسری، ورود چندزبانه منابع، جست‌وجو، بازیابی ایجنتیک، کارهای زنده استودیو، خروجی‌های یادگیری، اسلاید، صوت و ویدیوی مبتنی بر رسانه مجاز را تأیید می‌کند.</a:t>
            </a:r>
            <a:endParaRPr lang="fa-IR"/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1047750" y="4095750"/>
            <a:ext cx="10096500" cy="952500"/>
          </a:xfrm>
          <a:prstGeom prst="roundRect">
            <a:avLst>
              <a:gd name="adj" fmla="val 12000"/>
            </a:avLst>
          </a:prstGeom>
          <a:solidFill>
            <a:srgbClr val="0E756F"/>
          </a:solidFill>
          <a:ln w="0">
            <a:noFill/>
            <a:prstDash val="solid"/>
          </a:ln>
        </p:spPr>
      </p:sp>
      <p:sp>
        <p:nvSpPr>
          <p:cNvPr id="5" name="Rectangle 4"/>
          <p:cNvSpPr>
            <a:spLocks noGrp="1"/>
          </p:cNvSpPr>
          <p:nvPr/>
        </p:nvSpPr>
        <p:spPr>
          <a:xfrm>
            <a:off x="1352550" y="4248150"/>
            <a:ext cx="948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 rtl="1">
              <a:defRPr lang="fa-IR" sz="14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defRPr>
            </a:pPr>
            <a:r>
              <a:rPr lang="fa-IR" sz="1425" b="0">
                <a:solidFill>
                  <a:srgbClr val="FFFFFF"/>
                </a:solidFill>
                <a:latin typeface="Kalameh" panose="00000500000000000000"/>
                <a:ea typeface="Kalameh" panose="00000500000000000000"/>
                <a:cs typeface="Kalameh" panose="00000500000000000000"/>
              </a:rPr>
              <a:t>تمام فایل‌های منتشرشده خروجی خود برنامه هستند و مانیفست‌ها هش، کیفیت و منشأ رسانه را ثبت می‌کنند.</a:t>
            </a:r>
            <a:endParaRPr lang="fa-IR"/>
          </a:p>
        </p:txBody>
      </p:sp>
      <p:sp>
        <p:nvSpPr>
          <p:cNvPr id="6" name="Rectangle 5">
            <a:hlinkClick r:id="rId1" action="ppaction://hlinkfile"/>
          </p:cNvPr>
          <p:cNvSpPr>
            <a:spLocks noGrp="1"/>
          </p:cNvSpPr>
          <p:nvPr/>
        </p:nvSpPr>
        <p:spPr>
          <a:xfrm>
            <a:off x="1047750" y="5753100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2ED3B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D3B7"/>
                </a:solidFill>
                <a:latin typeface="Aptos"/>
                <a:ea typeface="Aptos"/>
                <a:cs typeface="Aptos"/>
                <a:hlinkClick r:id="rId1" action="ppaction://hlinkfile"/>
              </a:rPr>
              <a:t>https://github.com/msmahdinejad/SourceLens</a:t>
            </a:r>
            <a:endParaRPr sz="1350" b="1">
              <a:solidFill>
                <a:srgbClr val="2ED3B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rceLens">
  <a:themeElements>
    <a:clrScheme name="SourceLen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ourceLen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ourceLens">
  <a:themeElements>
    <a:clrScheme name="SourceLens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ourceLen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1823</Words>
  <Application>WPS Presentation</Application>
  <PresentationFormat>Converted Presentation</PresentationFormat>
  <Paragraphs>106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SimSun</vt:lpstr>
      <vt:lpstr>Wingdings</vt:lpstr>
      <vt:lpstr>Kalameh</vt:lpstr>
      <vt:lpstr>Aptos</vt:lpstr>
      <vt:lpstr>Segoe UI</vt:lpstr>
      <vt:lpstr>SourceLens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SourceLens</dc:creator>
  <cp:lastModifiedBy>SourceLens</cp:lastModifiedBy>
  <cp:revision>3</cp:revision>
  <dcterms:created xsi:type="dcterms:W3CDTF">2026-08-09T17:26:00Z</dcterms:created>
  <dcterms:modified xsi:type="dcterms:W3CDTF">2026-08-09T17:27:26Z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F9103D65DB17439D84C17CEFF9E2451F_12</vt:lpwstr>
  </property>
  <property fmtid="{D5CDD505-2E9C-101B-9397-08002B2CF9AE}" pid="3" name="KSOProductBuildVer">
    <vt:lpwstr>1033-12.1.0.28032</vt:lpwstr>
  </property>
</Properties>
</file>