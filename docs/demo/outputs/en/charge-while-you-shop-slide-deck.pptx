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big idea: fast charging at retail locations transforms idle shopping time into useful road-trip time. Emphasize that this is not just about technology—it’s about convenience, cost savings, and accessibility for all drivers.
[Sources]
- Image: https://www.pexels.com/photo/public-charger-for-electric-vehicles-4678065/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home charging is the most convenient and cost-effective option for most EV drivers, but fast public charging is critical for road trips and those without home access. Retail locations are a natural fit because they already attract customers who spend time on-site.
[Sources]
- [S5]
- [S7]
- [S10]
- Image: https://www.pexels.com/photo/electric-car-charging-at-station-with-multiple-chargers-37576187/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scale of the Ricker’s deployment and the partnership with Nissan. Emphasize the business benefit: EV chargers attracted more customers, showing that infrastructure investments can pay off for retailers.
[Sources]
- [S2]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down the key takeaways for drivers: fast charging saves time, retail locations provide access for those without home charging, and low-cost options help reduce transportation expenses.
[Sources]
- [S1]
- [S3]
- [S5]
- [S6]
- [S7]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the benefits for retailers and drivers side by side. For retailers, emphasize foot traffic, loyalty, and future-proofing. For drivers, focus on convenience, time savings, and cost.
[Sources]
- [S1]
- [S2]
- [S3]
- [S5]
- [S6]
- [S7]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chart: home charging dominates, but fast public charging is essential for road trips and drivers without home access. Note that fast chargers are a smaller but critical part of the network.
[Sources]
- [S9]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retail charging to grid reliability. Explain how smart charging can help balance renewable energy and reduce peak demand, benefiting both drivers and utilities.
[Sources]
- [S4]
- Image: https://www.pexels.com/photo/wind-turbines-and-solar-panels-during-daytime-9800092/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actionable steps for retailers, drivers, and planners. Emphasize that retail charging is a win-win-win: it benefits businesses, drivers, and the grid.
[Sources]
- [S4]
- [S6]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MASTER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7800" b="780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>
              <a:alpha val="72000"/>
            </a:srgbClr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675120" y="0"/>
            <a:ext cx="5513832" cy="6858000"/>
          </a:xfrm>
          <a:prstGeom prst="rect">
            <a:avLst/>
          </a:prstGeom>
          <a:solidFill>
            <a:srgbClr val="07111F">
              <a:alpha val="82000"/>
            </a:srgbClr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378440" y="109728"/>
            <a:ext cx="1554480" cy="1554480"/>
          </a:xfrm>
          <a:prstGeom prst="ellipse">
            <a:avLst/>
          </a:prstGeom>
          <a:solidFill>
            <a:srgbClr val="FF9800">
              <a:alpha val="30000"/>
            </a:srgbClr>
          </a:solidFill>
          <a:ln w="12700">
            <a:solidFill>
              <a:srgbClr val="FF9800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086600" y="914400"/>
            <a:ext cx="109728" cy="10058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60920" y="859536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FF980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298448"/>
            <a:ext cx="4572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Fast Charging at Retail: Turn Shopping Stops into Road-Trip Time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3511296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2E8F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How EV infrastructure at stores benefits drivers, retailers, and planners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0863072" y="4855464"/>
            <a:ext cx="566928" cy="0"/>
          </a:xfrm>
          <a:prstGeom prst="line">
            <a:avLst/>
          </a:prstGeom>
          <a:noFill/>
          <a:ln w="27940">
            <a:solidFill>
              <a:srgbClr val="FFC107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7086600" y="4892040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altLang="en-US" sz="115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SourceLens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029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altLang="en-US" sz="1050" dirty="0">
                <a:solidFill>
                  <a:srgbClr val="CBD5E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Open Research Demo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E2E8F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01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E2E8F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/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E2E8F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647395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620" dirty="0">
                <a:solidFill>
                  <a:srgbClr val="E2E8F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Reinhard Bruckner</a:t>
            </a:r>
            <a:endParaRPr lang="en-US" sz="6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24245" r="24245" t="0" b="0"/>
          <a:stretch/>
        </p:blipFill>
        <p:spPr>
          <a:xfrm>
            <a:off x="0" y="0"/>
            <a:ext cx="47091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2E7D32">
              <a:alpha val="22000"/>
            </a:srgbClr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709160" y="0"/>
            <a:ext cx="137160" cy="685800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457432" y="347472"/>
            <a:ext cx="155448" cy="310896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0" y="329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The Core Insight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731520"/>
            <a:ext cx="6126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2500" b="1" dirty="0">
                <a:solidFill>
                  <a:srgbClr val="21212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Why Fast Charging at Retail Works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78308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Most EV charging happens at home—but fast public charging is essential for road trips and drivers without home access.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/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9326880" y="647395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62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Giant Asparagus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7240" y="-914400"/>
            <a:ext cx="3200400" cy="3200400"/>
          </a:xfrm>
          <a:prstGeom prst="ellipse">
            <a:avLst/>
          </a:prstGeom>
          <a:solidFill>
            <a:srgbClr val="FF9800">
              <a:alpha val="30000"/>
            </a:srgbClr>
          </a:solidFill>
          <a:ln w="12700">
            <a:solidFill>
              <a:srgbClr val="FF980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4663440"/>
            <a:ext cx="3017520" cy="3017520"/>
          </a:xfrm>
          <a:prstGeom prst="ellipse">
            <a:avLst/>
          </a:prstGeom>
          <a:solidFill>
            <a:srgbClr val="FFC107">
              <a:alpha val="32000"/>
            </a:srgbClr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0" y="594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Case Study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1556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2900" b="1" dirty="0">
                <a:solidFill>
                  <a:srgbClr val="21212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Ricker’s: The Largest Citywide Retail Fast-Charging Deployment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212080" y="2944368"/>
            <a:ext cx="1737360" cy="0"/>
          </a:xfrm>
          <a:prstGeom prst="line">
            <a:avLst/>
          </a:prstGeom>
          <a:noFill/>
          <a:ln w="38100">
            <a:solidFill>
              <a:srgbClr val="FFC107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2148840" y="3200400"/>
            <a:ext cx="7909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3886200"/>
            <a:ext cx="8549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altLang="en-US" sz="1280" dirty="0">
                <a:solidFill>
                  <a:srgbClr val="21212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When Nissan expanded its No Charge to Charge program in Indianapolis, it partnered with Ricker’s, a local convenience store chain with 56 locations. The installation marked the largest citywide deployment of DC fast chargers at retail fueling stations in the U.S. . Ricker’s owner Jay Ricker noted that customer visits increased after the chargers were installed, demonstrating how EV infrastructure can drive foot traffic and loyalty.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03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/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03152" y="347472"/>
            <a:ext cx="155448" cy="310896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66360" y="329184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For EV Owners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166360" y="73152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2400" b="1" dirty="0">
                <a:solidFill>
                  <a:srgbClr val="21212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What Drivers Need to Know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304288"/>
            <a:ext cx="3593592" cy="3794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4EE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383280" y="2624328"/>
            <a:ext cx="457200" cy="45720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88436" y="2729484"/>
            <a:ext cx="246888" cy="2468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081528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21212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Fast Charging is a Time-Saver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11296"/>
            <a:ext cx="304495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When drivers need fast charging, they prefer the highest power available (up to 350+ kW) to minimize downtime. Retail locations make this convenient by offering shopping, dining,…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304288"/>
            <a:ext cx="3593592" cy="3794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4EE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78040" y="2624328"/>
            <a:ext cx="457200" cy="457200"/>
          </a:xfrm>
          <a:prstGeom prst="ellipse">
            <a:avLst/>
          </a:prstGeom>
          <a:solidFill>
            <a:srgbClr val="FF9800"/>
          </a:solidFill>
          <a:ln w="12700">
            <a:solidFill>
              <a:srgbClr val="FF9800">
                <a:alpha val="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83196" y="2729484"/>
            <a:ext cx="246888" cy="246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3081528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21212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Access for All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511296"/>
            <a:ext cx="304495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Retail charging hubs help drivers without home access, such as apartment dwellers or urban residents, by providing reliable public options. This expands EV ownership to more peopl…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92440" y="2304288"/>
            <a:ext cx="3593592" cy="3794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4EE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0972800" y="2624328"/>
            <a:ext cx="457200" cy="45720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77956" y="2729484"/>
            <a:ext cx="246888" cy="24688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3081528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21212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Cost Savings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3511296"/>
            <a:ext cx="304495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Retailers like Walmart aim to offer "Every Day Low Price" charging, helping drivers save on transportation costs, which are the second-highest household expense for many Americans…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04</a:t>
            </a:r>
            <a:endParaRPr lang="en-US" sz="750" dirty="0"/>
          </a:p>
        </p:txBody>
      </p:sp>
      <p:sp>
        <p:nvSpPr>
          <p:cNvPr id="21" name="Text 16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/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7D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03152" y="347472"/>
            <a:ext cx="155448" cy="310896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329184"/>
            <a:ext cx="6812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05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7315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2300" b="1" dirty="0">
                <a:solidFill>
                  <a:srgbClr val="F8FAFC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Retail Charging: Benefits for Stores vs. Drivers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2395728"/>
            <a:ext cx="5349240" cy="3611880"/>
          </a:xfrm>
          <a:prstGeom prst="roundRect">
            <a:avLst/>
          </a:prstGeom>
          <a:solidFill>
            <a:srgbClr val="172033"/>
          </a:solidFill>
          <a:ln w="8890">
            <a:solidFill>
              <a:srgbClr val="475569">
                <a:alpha val="6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6968" y="2651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CBD5E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For Retailers</a:t>
            </a:r>
            <a:endParaRPr lang="en-US" sz="15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7216" y="3227832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75688" y="319125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Increased Foot Traffic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rgbClr val="B8C3D4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EV chargers attract new customers who spend time—and money—on-site while charging. Ricker’s saw a steady increase in customer visits after installing chargers .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7216" y="39776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75688" y="394106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Customer Loyalty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2688" y="42153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rgbClr val="B8C3D4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Offering charging aligns with sustainability goals and positions retailers as community leaders in the transition to EVs .</a:t>
            </a:r>
            <a:endParaRPr lang="en-US" sz="10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57216" y="4727448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075688" y="469087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Future-Proofing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932688" y="49651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rgbClr val="B8C3D4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As EV adoption grows, retailers with charging infrastructure will be ahead of the curve, meeting demand before competitors 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72784" y="2395728"/>
            <a:ext cx="5349240" cy="3611880"/>
          </a:xfrm>
          <a:prstGeom prst="roundRect">
            <a:avLst/>
          </a:prstGeom>
          <a:solidFill>
            <a:srgbClr val="132D32"/>
          </a:solidFill>
          <a:ln w="8890">
            <a:solidFill>
              <a:srgbClr val="FF9800">
                <a:alpha val="6500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592824" y="2651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FF980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For Drivers</a:t>
            </a:r>
            <a:endParaRPr lang="en-US" sz="15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63072" y="3227832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781544" y="319125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Convenience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6638544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rgbClr val="B8C3D4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Retail locations are already part of daily routines, making charging a seamless part of errands or road trips .</a:t>
            </a:r>
            <a:endParaRPr lang="en-US" sz="10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63072" y="397764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81544" y="394106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Time Efficiency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6638544" y="42153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rgbClr val="B8C3D4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Fast chargers (up to 350+ kW) minimize downtime, allowing drivers to shop, eat, or relax while their vehicle charges .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863072" y="4727448"/>
            <a:ext cx="365760" cy="36576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781544" y="469087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5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Cost Savings</a:t>
            </a:r>
            <a:endParaRPr lang="en-US" sz="1050" dirty="0"/>
          </a:p>
        </p:txBody>
      </p:sp>
      <p:sp>
        <p:nvSpPr>
          <p:cNvPr id="26" name="Text 18"/>
          <p:cNvSpPr txBox="1"/>
          <p:nvPr/>
        </p:nvSpPr>
        <p:spPr>
          <a:xfrm>
            <a:off x="6638544" y="49651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rgbClr val="B8C3D4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Retailers like Walmart aim to offer low-cost charging, helping drivers reduce transportation expenses .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5824728" y="3767328"/>
            <a:ext cx="530352" cy="53035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sp>
        <p:nvSpPr>
          <p:cNvPr id="28" name="Text 20"/>
          <p:cNvSpPr txBox="1"/>
          <p:nvPr/>
        </p:nvSpPr>
        <p:spPr>
          <a:xfrm>
            <a:off x="5824728" y="3730752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↔</a:t>
            </a:r>
            <a:endParaRPr lang="en-US" sz="2000" dirty="0"/>
          </a:p>
        </p:txBody>
      </p:sp>
      <p:sp>
        <p:nvSpPr>
          <p:cNvPr id="29" name="Text 21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05</a:t>
            </a:r>
            <a:endParaRPr lang="en-US" sz="750" dirty="0"/>
          </a:p>
        </p:txBody>
      </p:sp>
      <p:sp>
        <p:nvSpPr>
          <p:cNvPr id="30" name="Text 22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/</a:t>
            </a:r>
            <a:endParaRPr lang="en-US" sz="75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CAF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7240" y="-914400"/>
            <a:ext cx="3200400" cy="3200400"/>
          </a:xfrm>
          <a:prstGeom prst="ellipse">
            <a:avLst/>
          </a:prstGeom>
          <a:solidFill>
            <a:srgbClr val="FF9800">
              <a:alpha val="30000"/>
            </a:srgbClr>
          </a:solidFill>
          <a:ln w="12700">
            <a:solidFill>
              <a:srgbClr val="FF980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4663440"/>
            <a:ext cx="3017520" cy="3017520"/>
          </a:xfrm>
          <a:prstGeom prst="ellipse">
            <a:avLst/>
          </a:prstGeom>
          <a:solidFill>
            <a:srgbClr val="FFC107">
              <a:alpha val="32000"/>
            </a:srgbClr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0" y="5943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Infrastructure Needs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1556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30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The Role of Fast Charging in the National Network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212080" y="2944368"/>
            <a:ext cx="1737360" cy="0"/>
          </a:xfrm>
          <a:prstGeom prst="line">
            <a:avLst/>
          </a:prstGeom>
          <a:noFill/>
          <a:ln w="38100">
            <a:solidFill>
              <a:srgbClr val="FFC107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 txBox="1"/>
          <p:nvPr/>
        </p:nvSpPr>
        <p:spPr>
          <a:xfrm>
            <a:off x="2148840" y="3127248"/>
            <a:ext cx="7909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3813048"/>
            <a:ext cx="8549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altLang="en-US" sz="1280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By 2030, the U.S. will need 182,000 public DC fast-charging ports to support EV adoption. While this is a smaller portion of the total charging network (compared to home and Level 2 chargers), fast charging is critical for enabling road trips and supporting drivers without home access .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D9F3E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06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D9F3E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/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D9F3E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24245" r="24245" t="0" b="0"/>
          <a:stretch/>
        </p:blipFill>
        <p:spPr>
          <a:xfrm>
            <a:off x="0" y="0"/>
            <a:ext cx="47091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2E7D32">
              <a:alpha val="22000"/>
            </a:srgbClr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709160" y="0"/>
            <a:ext cx="137160" cy="685800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457432" y="347472"/>
            <a:ext cx="155448" cy="310896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0" y="329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Grid Reliability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731520"/>
            <a:ext cx="6126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2500" b="1" dirty="0">
                <a:solidFill>
                  <a:srgbClr val="21212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How Retail Charging Supports the Grid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07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/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326880" y="647395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620" dirty="0">
                <a:solidFill>
                  <a:srgbClr val="757575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Kindel Media</a:t>
            </a:r>
            <a:endParaRPr lang="en-US" sz="6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E7D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5074920"/>
            <a:ext cx="1508760" cy="1508760"/>
          </a:xfrm>
          <a:prstGeom prst="ellipse">
            <a:avLst/>
          </a:prstGeom>
          <a:solidFill>
            <a:srgbClr val="FF9800">
              <a:alpha val="25000"/>
            </a:srgbClr>
          </a:solidFill>
          <a:ln w="12700">
            <a:solidFill>
              <a:srgbClr val="FF980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109728"/>
            <a:ext cx="1417320" cy="1417320"/>
          </a:xfrm>
          <a:prstGeom prst="ellipse">
            <a:avLst/>
          </a:prstGeom>
          <a:solidFill>
            <a:srgbClr val="FFC107">
              <a:alpha val="28000"/>
            </a:srgbClr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57432" y="347472"/>
            <a:ext cx="155448" cy="310896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0" y="329184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The Road Ahead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685800"/>
            <a:ext cx="7040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2600" b="1" dirty="0">
                <a:solidFill>
                  <a:srgbClr val="F8FAFC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What’s Next for Retail EV Charging?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94360" y="2788920"/>
            <a:ext cx="3505200" cy="2331720"/>
          </a:xfrm>
          <a:prstGeom prst="roundRect">
            <a:avLst/>
          </a:prstGeom>
          <a:solidFill>
            <a:srgbClr val="151F31"/>
          </a:solidFill>
          <a:ln w="8890">
            <a:solidFill>
              <a:srgbClr val="FFC107">
                <a:alpha val="6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9718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01</a:t>
            </a:r>
            <a:endParaRPr lang="en-US" sz="1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05200" y="299923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3657600"/>
            <a:ext cx="304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**Retailers:** Install chargers to attract customers, future-proof your…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33088"/>
            <a:ext cx="304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8160" y="2788920"/>
            <a:ext cx="3505200" cy="2331720"/>
          </a:xfrm>
          <a:prstGeom prst="roundRect">
            <a:avLst/>
          </a:prstGeom>
          <a:solidFill>
            <a:srgbClr val="151F31"/>
          </a:solidFill>
          <a:ln w="8890">
            <a:solidFill>
              <a:srgbClr val="FF9800">
                <a:alpha val="6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9328" y="29718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FF9800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02</a:t>
            </a:r>
            <a:endParaRPr lang="en-US" sz="16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9000" y="299923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56760" y="3657600"/>
            <a:ext cx="304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**Drivers:** Advocate for charging infrastructure at your favorite stor…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56760" y="4133088"/>
            <a:ext cx="304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61960" y="2788920"/>
            <a:ext cx="3505200" cy="2331720"/>
          </a:xfrm>
          <a:prstGeom prst="roundRect">
            <a:avLst/>
          </a:prstGeom>
          <a:solidFill>
            <a:srgbClr val="151F31"/>
          </a:solidFill>
          <a:ln w="8890">
            <a:solidFill>
              <a:srgbClr val="FFC107">
                <a:alpha val="6500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63128" y="29718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FFC107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03</a:t>
            </a:r>
            <a:endParaRPr lang="en-US" sz="16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299923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90560" y="3657600"/>
            <a:ext cx="304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FFFFFF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**Planners:** Support pre-normative research to harmonize technical req…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290560" y="4133088"/>
            <a:ext cx="304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  <p:sp>
        <p:nvSpPr>
          <p:cNvPr id="23" name="Text 18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/</a:t>
            </a:r>
            <a:endParaRPr lang="en-US" sz="75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Vazirmatn" pitchFamily="34" charset="0"/>
                <a:ea typeface="Vazirmatn" pitchFamily="34" charset="-122"/>
                <a:cs typeface="Vazirmatn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Local generator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Fast Charging at Retail: Turning Shopping Stops into Road-Trip Time</dc:title>
  <dc:subject>How EV infrastructure at stores benefits drivers, retailers, and planners</dc:subject>
  <dc:creator>SourceLens</dc:creator>
  <cp:lastModifiedBy>SourceLens</cp:lastModifiedBy>
  <cp:revision>1</cp:revision>
  <dcterms:created xsi:type="dcterms:W3CDTF">2026-08-09T15:28:45Z</dcterms:created>
  <dcterms:modified xsi:type="dcterms:W3CDTF">2026-08-09T15:28:45Z</dcterms:modified>
</cp:coreProperties>
</file>