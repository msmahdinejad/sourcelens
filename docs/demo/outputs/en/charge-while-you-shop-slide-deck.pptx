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the presentation on how retail charging infrastructure aligns routine shopping intervals with necessary electric vehicle recharging.
[Sources]
- [[S1]]
- Image: https://www.pexels.com/photo/electric-vehicle-charging-station-in-urban-setting-37576194/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Explains the distinction between Level 2 and DC fast charging in public retail environments as modeled in national infrastructure projections.
[Sources]
- [[S2]]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Highlights Walmart's strategy of utilizing widespread retail footprints to make EV ownership accessible across rural, suburban, and urban communities.
[Sources]
- [[S5]]
- Image: https://www.pexels.com/photo/aerial-footage-of-solar-panels-9799757/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Examines how convenience store chains and automotive manufacturers collaborated to establish early dense deployment models.
[Sources]
- [[S4]]
- [[S8]]
- Image: https://www.pexels.com/photo/electric-vehicle-charging-station-on-roadside-5864153/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Details the NREL modeling suite used to project infrastructure requirements across diverse light-duty vehicle use cases.
[Sources]
- [[S7]]
- [[S9]]
- [[S10]]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Outlines the importance of pairing retail EV charging deployment with advanced grid management and demand shifting.
[Sources]
- [[S3]]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Demonstrates the direct business and consumer benefits realized when routine retail visits double as reliable vehicle recharging opportunities.
[Sources]
- [[S5]]
- [[S8]]
- Image: https://www.pexels.com/photo/modern-woman-using-station-for-charging-electromobile-4005049/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Concluding summary on actionable steps for expanding retail charging networks to turn parking intervals into productive travel range.
[Sources]
- [[S1]]
- [[S2]]
- [[S5]]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MASTER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12506" b="12506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72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675120" y="0"/>
            <a:ext cx="5513832" cy="6858000"/>
          </a:xfrm>
          <a:prstGeom prst="rect">
            <a:avLst/>
          </a:prstGeom>
          <a:solidFill>
            <a:srgbClr val="07111F">
              <a:alpha val="82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378440" y="109728"/>
            <a:ext cx="1554480" cy="1554480"/>
          </a:xfrm>
          <a:prstGeom prst="ellipse">
            <a:avLst/>
          </a:prstGeom>
          <a:solidFill>
            <a:srgbClr val="E76F51">
              <a:alpha val="30000"/>
            </a:srgbClr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086600" y="914400"/>
            <a:ext cx="109728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60920" y="85953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dirty="0">
                <a:solidFill>
                  <a:srgbClr val="E76F5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Infrastructure Playbook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1298448"/>
            <a:ext cx="4572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Turning Shopping Time into Travel Time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3511296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2E8F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Integrating EV charging into retail destinations to convert parking dwell into useful driving range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863072" y="4855464"/>
            <a:ext cx="566928" cy="0"/>
          </a:xfrm>
          <a:prstGeom prst="line">
            <a:avLst/>
          </a:prstGeom>
          <a:noFill/>
          <a:ln w="27940">
            <a:solidFill>
              <a:srgbClr val="F4A261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7086600" y="489204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altLang="en-US" sz="115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SourceLens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520293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altLang="en-US" sz="1050" dirty="0">
                <a:solidFill>
                  <a:srgbClr val="CBD5E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Open Research Demo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32004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E2E8F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557784" y="651052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E2E8F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/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E2E8F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08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64739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620" dirty="0">
                <a:solidFill>
                  <a:srgbClr val="E2E8F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Giant Asparagus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3152" y="347472"/>
            <a:ext cx="155448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166360" y="32918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50" b="1" spc="50" kern="0" dirty="0">
                <a:solidFill>
                  <a:srgbClr val="F4A26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166360" y="731520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2400" b="1" dirty="0">
                <a:solidFill>
                  <a:srgbClr val="1D3557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Dual-Purpose Dwell Times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166360" y="164592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5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Balancing long-duration Level 2 convenience with rapid DC fast charging at retail sites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304288"/>
            <a:ext cx="3593592" cy="3794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4E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3970" dir="27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83280" y="2624328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88436" y="2729484"/>
            <a:ext cx="246888" cy="24688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081528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1D3557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Level 2 Ports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11296"/>
            <a:ext cx="304495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Approx. 500,000 public L2 ports simulated across retail outlets and community centers provide occasional long-duration charging during extended visits.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2304288"/>
            <a:ext cx="3593592" cy="3794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4E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3970" dir="27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78040" y="2624328"/>
            <a:ext cx="457200" cy="4572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3196" y="2729484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3081528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1D3557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DC Fast Charging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3511296"/>
            <a:ext cx="304495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182,000 public DC fast ports (ranging from 50 kW to 350+ kW) core to network success, giving drivers assurance of rapid turnaround when needed.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92440" y="2304288"/>
            <a:ext cx="3593592" cy="3794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4EE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3970" dir="27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972800" y="2624328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77956" y="2729484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66760" y="3081528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1D3557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Strategic Placement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3511296"/>
            <a:ext cx="304495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Locating chargers where drivers already park for other activities minimizes perceived friction and turns idle vehicle time into travel range.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32004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17"/>
          <p:cNvSpPr txBox="1"/>
          <p:nvPr/>
        </p:nvSpPr>
        <p:spPr>
          <a:xfrm>
            <a:off x="557784" y="651052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/</a:t>
            </a:r>
            <a:endParaRPr lang="en-US" sz="75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24245" r="24245" t="0" b="0"/>
          <a:stretch/>
        </p:blipFill>
        <p:spPr>
          <a:xfrm>
            <a:off x="0" y="0"/>
            <a:ext cx="47091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0D5C75">
              <a:alpha val="22000"/>
            </a:srgbClr>
          </a:solidFill>
          <a:ln w="12700">
            <a:solidFill>
              <a:srgbClr val="0D5C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709160" y="0"/>
            <a:ext cx="137160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57432" y="347472"/>
            <a:ext cx="155448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3291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50" b="1" spc="50" kern="0" dirty="0">
                <a:solidFill>
                  <a:srgbClr val="F4A26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03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73152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2500" b="1" dirty="0">
                <a:solidFill>
                  <a:srgbClr val="1D3557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Bridging Convenience and Scale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78308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5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National retail footprints provide unmatched proximity for everyday drivers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03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557784" y="651052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/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08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9326880" y="64739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62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Kindel Media</a:t>
            </a:r>
            <a:endParaRPr lang="en-US" sz="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27117" r="27117" t="0" b="0"/>
          <a:stretch/>
        </p:blipFill>
        <p:spPr>
          <a:xfrm>
            <a:off x="0" y="0"/>
            <a:ext cx="47091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0D5C75">
              <a:alpha val="22000"/>
            </a:srgbClr>
          </a:solidFill>
          <a:ln w="12700">
            <a:solidFill>
              <a:srgbClr val="0D5C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709160" y="0"/>
            <a:ext cx="137160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57432" y="347472"/>
            <a:ext cx="155448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3291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50" b="1" spc="50" kern="0" dirty="0">
                <a:solidFill>
                  <a:srgbClr val="F4A26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04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731520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2400" b="1" dirty="0">
                <a:solidFill>
                  <a:srgbClr val="1D3557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Early Retail Deployment: Ricker's Case Study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78308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5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Pioneering citywide DC fast charging at convenience store locations in Indianapolis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04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557784" y="651052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/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08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9326880" y="64739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62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Erik Mclean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57432" y="347472"/>
            <a:ext cx="155448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212080" y="32918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50" b="1" spc="50" kern="0" dirty="0">
                <a:solidFill>
                  <a:srgbClr val="F4A26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212080" y="7315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2400" b="1" dirty="0">
                <a:solidFill>
                  <a:srgbClr val="1D3557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Modeling Travel Demand and Siting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212080" y="16459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5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Using advanced simulation suites to predict optimal charger placement and usage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2487168"/>
            <a:ext cx="3569208" cy="3017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9EEF5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3970" dir="27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41192" y="2816352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29523" y="2904683"/>
            <a:ext cx="207386" cy="20738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58952" y="2743200"/>
            <a:ext cx="2517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500" b="1" dirty="0">
                <a:solidFill>
                  <a:srgbClr val="1D3557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EVI-Pro</a:t>
            </a:r>
            <a:endParaRPr lang="en-US" sz="2500" dirty="0"/>
          </a:p>
        </p:txBody>
      </p:sp>
      <p:sp>
        <p:nvSpPr>
          <p:cNvPr id="10" name="Text 7"/>
          <p:cNvSpPr txBox="1"/>
          <p:nvPr/>
        </p:nvSpPr>
        <p:spPr>
          <a:xfrm>
            <a:off x="758952" y="3584448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1D3557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Typical daily charging needs based on national household travel surveys.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58952" y="4096512"/>
            <a:ext cx="31120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58952" y="5102352"/>
            <a:ext cx="3112008" cy="73152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952" y="5102352"/>
            <a:ext cx="1400404" cy="73152"/>
          </a:xfrm>
          <a:prstGeom prst="round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00728" y="2487168"/>
            <a:ext cx="3569208" cy="3017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9EEF5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3970" dir="27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211568" y="2816352"/>
            <a:ext cx="384048" cy="38404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9899" y="2904683"/>
            <a:ext cx="207386" cy="20738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529328" y="2743200"/>
            <a:ext cx="2517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500" b="1" dirty="0">
                <a:solidFill>
                  <a:srgbClr val="1D3557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EVI-RoadTrip</a:t>
            </a:r>
            <a:endParaRPr lang="en-US" sz="2500" dirty="0"/>
          </a:p>
        </p:txBody>
      </p:sp>
      <p:sp>
        <p:nvSpPr>
          <p:cNvPr id="18" name="Text 14"/>
          <p:cNvSpPr txBox="1"/>
          <p:nvPr/>
        </p:nvSpPr>
        <p:spPr>
          <a:xfrm>
            <a:off x="4529328" y="3584448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1D3557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Simulates interregional travel and clusters fast-charging demand near r…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529328" y="4096512"/>
            <a:ext cx="31120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529328" y="5102352"/>
            <a:ext cx="3112008" cy="73152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529328" y="5102352"/>
            <a:ext cx="1711604" cy="73152"/>
          </a:xfrm>
          <a:prstGeom prst="roundRect">
            <a:avLst/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071104" y="2487168"/>
            <a:ext cx="3569208" cy="3017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9EEF5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3970" dir="2700000">
              <a:srgbClr val="000000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10981944" y="2816352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70275" y="2904683"/>
            <a:ext cx="207386" cy="20738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299704" y="2743200"/>
            <a:ext cx="2517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500" b="1" dirty="0">
                <a:solidFill>
                  <a:srgbClr val="1D3557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EVI-OnDemand</a:t>
            </a:r>
            <a:endParaRPr lang="en-US" sz="2500" dirty="0"/>
          </a:p>
        </p:txBody>
      </p:sp>
      <p:sp>
        <p:nvSpPr>
          <p:cNvPr id="26" name="Text 21"/>
          <p:cNvSpPr txBox="1"/>
          <p:nvPr/>
        </p:nvSpPr>
        <p:spPr>
          <a:xfrm>
            <a:off x="8299704" y="3584448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1D3557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Estimates urban ride-hailing fleet electrification and public charging…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299704" y="4096512"/>
            <a:ext cx="31120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299704" y="5102352"/>
            <a:ext cx="3112008" cy="73152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299704" y="5102352"/>
            <a:ext cx="2022805" cy="73152"/>
          </a:xfrm>
          <a:prstGeom prst="round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2004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05</a:t>
            </a:r>
            <a:endParaRPr lang="en-US" sz="750" dirty="0"/>
          </a:p>
        </p:txBody>
      </p:sp>
      <p:sp>
        <p:nvSpPr>
          <p:cNvPr id="31" name="Text 26"/>
          <p:cNvSpPr txBox="1"/>
          <p:nvPr/>
        </p:nvSpPr>
        <p:spPr>
          <a:xfrm>
            <a:off x="557784" y="651052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/</a:t>
            </a:r>
            <a:endParaRPr lang="en-US" sz="750" dirty="0"/>
          </a:p>
        </p:txBody>
      </p:sp>
      <p:sp>
        <p:nvSpPr>
          <p:cNvPr id="32" name="Text 27"/>
          <p:cNvSpPr txBox="1"/>
          <p:nvPr/>
        </p:nvSpPr>
        <p:spPr>
          <a:xfrm>
            <a:off x="68580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6C757D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5C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03152" y="347472"/>
            <a:ext cx="155448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663440" y="329184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50" b="1" spc="50" kern="0" dirty="0">
                <a:solidFill>
                  <a:srgbClr val="F4A26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731520"/>
            <a:ext cx="6995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2400" b="1" dirty="0">
                <a:solidFill>
                  <a:srgbClr val="F8FAFC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Grid Integration and Smart Charging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572768"/>
            <a:ext cx="6995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50" dirty="0">
                <a:solidFill>
                  <a:srgbClr val="CBD5E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Coordinated strategies to optimize charging infrastructure for electrical grid support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2788920"/>
            <a:ext cx="3614928" cy="2487168"/>
          </a:xfrm>
          <a:prstGeom prst="roundRect">
            <a:avLst/>
          </a:prstGeom>
          <a:solidFill>
            <a:srgbClr val="182035"/>
          </a:solidFill>
          <a:ln w="8890">
            <a:solidFill>
              <a:srgbClr val="F4A261">
                <a:alpha val="6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" y="29718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4A26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01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78352" y="2990088"/>
            <a:ext cx="347472" cy="3474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3611880"/>
            <a:ext cx="3212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Evaluate Strategies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114800"/>
            <a:ext cx="3212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rgbClr val="B9C4D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Assess charge management effectiveness to identify highest grid value during mass EV adoption.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126992" y="377647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rgbClr val="F4A26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91584" y="2788920"/>
            <a:ext cx="3614928" cy="2487168"/>
          </a:xfrm>
          <a:prstGeom prst="roundRect">
            <a:avLst/>
          </a:prstGeom>
          <a:solidFill>
            <a:srgbClr val="17283A"/>
          </a:solidFill>
          <a:ln w="8890">
            <a:solidFill>
              <a:srgbClr val="E76F51">
                <a:alpha val="6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56176" y="29718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E76F5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02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9584" y="299008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492752" y="3611880"/>
            <a:ext cx="3212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Shift Demand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492752" y="4114800"/>
            <a:ext cx="3212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rgbClr val="B9C4D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Use smart charging patterns over daily cycles to integrate clean distributed energy resources.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7888224" y="377647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rgbClr val="F4A26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8052816" y="2788920"/>
            <a:ext cx="3614928" cy="2487168"/>
          </a:xfrm>
          <a:prstGeom prst="roundRect">
            <a:avLst/>
          </a:prstGeom>
          <a:solidFill>
            <a:srgbClr val="182035"/>
          </a:solidFill>
          <a:ln w="8890">
            <a:solidFill>
              <a:srgbClr val="F4A261">
                <a:alpha val="6500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17408" y="297180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4A26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03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00816" y="2990088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253984" y="3611880"/>
            <a:ext cx="3212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Provide Services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253984" y="4114800"/>
            <a:ext cx="3212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rgbClr val="B9C4D6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Validate smart hubs for load flexibility, frequency regulation, and grid stabilization.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32004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CBD5E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06</a:t>
            </a:r>
            <a:endParaRPr lang="en-US" sz="750" dirty="0"/>
          </a:p>
        </p:txBody>
      </p:sp>
      <p:sp>
        <p:nvSpPr>
          <p:cNvPr id="24" name="Text 19"/>
          <p:cNvSpPr txBox="1"/>
          <p:nvPr/>
        </p:nvSpPr>
        <p:spPr>
          <a:xfrm>
            <a:off x="557784" y="651052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CBD5E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/</a:t>
            </a:r>
            <a:endParaRPr lang="en-US" sz="750" dirty="0"/>
          </a:p>
        </p:txBody>
      </p:sp>
      <p:sp>
        <p:nvSpPr>
          <p:cNvPr id="25" name="Text 20"/>
          <p:cNvSpPr txBox="1"/>
          <p:nvPr/>
        </p:nvSpPr>
        <p:spPr>
          <a:xfrm>
            <a:off x="68580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CBD5E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7800" b="780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C">
              <a:alpha val="75000"/>
            </a:srgbClr>
          </a:solidFill>
          <a:ln w="12700">
            <a:solidFill>
              <a:srgbClr val="06101C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07111F">
              <a:alpha val="82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94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5400" b="1" dirty="0">
                <a:solidFill>
                  <a:srgbClr val="E76F5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“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1417320"/>
            <a:ext cx="5349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We've seen a steady increase in our customer base since installing the equipment a couple of years ago.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840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50" b="1" dirty="0">
                <a:solidFill>
                  <a:srgbClr val="E76F5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Jay Ricker, Owner of Ricker's Convenience Stores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59028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8E0E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Eliminating range anxiety through reliable on-the-go charging access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594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900" b="1" dirty="0">
                <a:solidFill>
                  <a:srgbClr val="F4A26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E2E8F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07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557784" y="651052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E2E8F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/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E2E8F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08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64739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620" dirty="0">
                <a:solidFill>
                  <a:srgbClr val="E2E8F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Gustavo Fring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5C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5074920"/>
            <a:ext cx="1508760" cy="1508760"/>
          </a:xfrm>
          <a:prstGeom prst="ellipse">
            <a:avLst/>
          </a:prstGeom>
          <a:solidFill>
            <a:srgbClr val="E76F51">
              <a:alpha val="25000"/>
            </a:srgbClr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61320" y="109728"/>
            <a:ext cx="1417320" cy="1417320"/>
          </a:xfrm>
          <a:prstGeom prst="ellipse">
            <a:avLst/>
          </a:prstGeom>
          <a:solidFill>
            <a:srgbClr val="F4A261">
              <a:alpha val="28000"/>
            </a:srgbClr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57432" y="347472"/>
            <a:ext cx="155448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0" y="32918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050" b="1" spc="50" kern="0" dirty="0">
                <a:solidFill>
                  <a:srgbClr val="F4A26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08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68580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2600" b="1" dirty="0">
                <a:solidFill>
                  <a:srgbClr val="F8FAFC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Accelerating the Transition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73736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250" dirty="0">
                <a:solidFill>
                  <a:srgbClr val="CBD5E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Key takeaways for scaling retail EV charging infrastructure successfully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788920"/>
            <a:ext cx="3505200" cy="2331720"/>
          </a:xfrm>
          <a:prstGeom prst="roundRect">
            <a:avLst/>
          </a:prstGeom>
          <a:solidFill>
            <a:srgbClr val="151F31"/>
          </a:solidFill>
          <a:ln w="8890">
            <a:solidFill>
              <a:srgbClr val="F4A261">
                <a:alpha val="6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29718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F4A26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5200" y="299923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2960" y="3657600"/>
            <a:ext cx="304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Align with Retail Dwells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133088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rgbClr val="B8C3D4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Target locations where natural customer dwell times match appropriate Level 2 or DC fast charging speeds.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28160" y="2788920"/>
            <a:ext cx="3505200" cy="2331720"/>
          </a:xfrm>
          <a:prstGeom prst="roundRect">
            <a:avLst/>
          </a:prstGeom>
          <a:solidFill>
            <a:srgbClr val="151F31"/>
          </a:solidFill>
          <a:ln w="8890">
            <a:solidFill>
              <a:srgbClr val="E76F51">
                <a:alpha val="65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29328" y="29718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E76F5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9000" y="299923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56760" y="3657600"/>
            <a:ext cx="304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Leverage Partnerships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556760" y="4133088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rgbClr val="B8C3D4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Combine automaker initiatives, clean cities coalitions, and site host investments to minimize deployment barriers.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61960" y="2788920"/>
            <a:ext cx="3505200" cy="2331720"/>
          </a:xfrm>
          <a:prstGeom prst="roundRect">
            <a:avLst/>
          </a:prstGeom>
          <a:solidFill>
            <a:srgbClr val="151F31"/>
          </a:solidFill>
          <a:ln w="8890">
            <a:solidFill>
              <a:srgbClr val="F4A261">
                <a:alpha val="6500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63128" y="29718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rgbClr val="F4A26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3</a:t>
            </a:r>
            <a:endParaRPr lang="en-US" sz="16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72800" y="299923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290560" y="3657600"/>
            <a:ext cx="304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Plan for Grid Integration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8290560" y="4133088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rgbClr val="B8C3D4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Incorporate smart charging, storage, and load management to support long-term grid stability and clean energy goals.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32004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CBD5E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08</a:t>
            </a:r>
            <a:endParaRPr lang="en-US" sz="750" dirty="0"/>
          </a:p>
        </p:txBody>
      </p:sp>
      <p:sp>
        <p:nvSpPr>
          <p:cNvPr id="24" name="Text 19"/>
          <p:cNvSpPr txBox="1"/>
          <p:nvPr/>
        </p:nvSpPr>
        <p:spPr>
          <a:xfrm>
            <a:off x="557784" y="651052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CBD5E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/</a:t>
            </a:r>
            <a:endParaRPr lang="en-US" sz="750" dirty="0"/>
          </a:p>
        </p:txBody>
      </p:sp>
      <p:sp>
        <p:nvSpPr>
          <p:cNvPr id="25" name="Text 20"/>
          <p:cNvSpPr txBox="1"/>
          <p:nvPr/>
        </p:nvSpPr>
        <p:spPr>
          <a:xfrm>
            <a:off x="685800" y="65105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50" dirty="0">
                <a:solidFill>
                  <a:srgbClr val="CBD5E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Local generator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Turning Shopping Time into Travel Time</dc:title>
  <dc:subject>How retail-integrated EV charging transforms parked vehicle intervals into productive transit range</dc:subject>
  <dc:creator>SourceLens</dc:creator>
  <cp:lastModifiedBy>SourceLens</cp:lastModifiedBy>
  <cp:revision>1</cp:revision>
  <dcterms:created xsi:type="dcterms:W3CDTF">2026-08-09T20:11:09Z</dcterms:created>
  <dcterms:modified xsi:type="dcterms:W3CDTF">2026-08-09T20:11:09Z</dcterms:modified>
</cp:coreProperties>
</file>