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در این ارائه بررسی می‌کنیم که چگونه ادغام زیرساخت شارژ با مراکز تجاری، تجربه رانندگان خودروهای برقی را دگرگون می‌کند.
[Sources]
- [S4]
- Image: https://www.pexels.com/photo/public-charger-for-electric-vehicles-4678065/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داده‌های تحقیق نشان می‌دهد رانندگان بیش از هر چیز به زمان شارژ، دسترسی به شارژ سریع و چالش‌های نصب خانگی توجه دارند.
[Sources]
- [S1]
- [S5]
- [S11]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رویکرد نه تنها مشکل توقف‌های طولانی را حل می‌کند، بلکه ارزش افزوده اقتصادی برای کسب‌وکارهای خرده‌فروشی خلق می‌کند.
[Sources]
- [S1]
- [S4]
- Image: https://www.pexels.com/photo/charging-of-a-vehicle-in-a-chraging-station-9799740/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برای پایداری بلندمدت، طراحی ماژولار و رعایت استانداردهای امنیتی و ارتباطی در مراکز تجاری ضروری است.
[Sources]
- [S3]
- [S7]
- [S10]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فرآیند یکپارچه، تجربه راننده را از یک دغدغه فنی به بخشی لذت‌بخش از زندگی روزمره تبدیل می‌کند.
[Sources]
- [S1]
- [S4]
- [S7]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استفاده از مدل‌های موفق جهانی نشان می‌دهد که شارژ مقصدی الگوی سفر با خودروهای برقی را به شدت تسهیل می‌کند.
[Sources]
- [S4]
- [S6]
- Image: https://www.pexels.com/photo/electric-cars-charging-on-stations-9800029/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زیرساخت‌ها فراتر از شارژ خودرو، به پایداری شبکه برق و کاهش هزینه‌های بلندمدت کمک شایانی می‌کنند.
[Sources]
- [S3]
- [S6]
- [S10]
- Image: https://www.pexels.com/photo/electric-vehicle-charging-station-in-urban-area-37851831/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با توسعه این زیرساخت‌ها، زمان شارژ دیگر یک مانع نخواهد بود، بلکه بخشی اثربخش از سفر و خرید روزانه خواهد شد.
[Sources]
- [S1]
- [S3]
- [S4]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7800" b="78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07111F">
              <a:alpha val="8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378440" y="109728"/>
            <a:ext cx="1554480" cy="155448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86600" y="914400"/>
            <a:ext cx="10972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60920" y="859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00" b="1" dirty="0">
                <a:solidFill>
                  <a:srgbClr val="F59E0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پژوهش کاربردی رفتار مصرف‌کننده</a:t>
            </a:r>
            <a:endParaRPr lang="fa-IR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298448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fa-IR" altLang="en-US" sz="2900" b="1" dirty="0">
                <a:solidFill>
                  <a:srgbClr val="FFFFFF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شارژ سریع خودرو برقی در فروشگاه‌ها</a:t>
            </a:r>
            <a:endParaRPr lang="fa-IR" sz="29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511296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E2E8F0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چگونه زمان انتظار برای شارژ به زمان مفید سفر و خرید تبدیل می‌شود</a:t>
            </a:r>
            <a:endParaRPr lang="fa-IR" sz="1400" dirty="0"/>
          </a:p>
        </p:txBody>
      </p:sp>
      <p:sp>
        <p:nvSpPr>
          <p:cNvPr id="10" name="Shape 7"/>
          <p:cNvSpPr/>
          <p:nvPr/>
        </p:nvSpPr>
        <p:spPr>
          <a:xfrm>
            <a:off x="10863072" y="4855464"/>
            <a:ext cx="566928" cy="0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7086600" y="48920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altLang="en-US" sz="1150" b="1" dirty="0">
                <a:solidFill>
                  <a:srgbClr val="FFFFFF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SourceLens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029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altLang="en-US" sz="1050" dirty="0">
                <a:solidFill>
                  <a:srgbClr val="CBD5E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Open Research Demo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E2E8F0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Reinhard Bruckner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66360" y="3291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مطالعات رفتار مصرف‌کننده</a:t>
            </a:r>
            <a:endParaRPr lang="fa-IR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166360" y="7315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دغدغه‌های اصلی رانندگان خودروهای برقی</a:t>
            </a:r>
            <a:endParaRPr lang="fa-IR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64592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تحلیل اهمیت زمان، سرعت و دسترسی در انتخاب ایستگاه‌های شارژ</a:t>
            </a:r>
            <a:endParaRPr lang="fa-IR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3593592" cy="3794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0" y="262432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8436" y="2729484"/>
            <a:ext cx="246888" cy="2468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8152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چالش شارژ خانگی</a:t>
            </a:r>
            <a:endParaRPr lang="fa-IR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11296"/>
            <a:ext cx="3044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بسیاری از مالکان خودروهای برقی با موانعی مانند محدودیت‌های نصب تجهیزات در محل سکونت مواجه هستند.</a:t>
            </a:r>
            <a:endParaRPr lang="fa-IR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304288"/>
            <a:ext cx="3593592" cy="3794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26243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3196" y="272948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08152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شارژ سریع عمومی</a:t>
            </a:r>
            <a:endParaRPr lang="fa-IR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511296"/>
            <a:ext cx="3044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نیاز به حالت‌های شارژ سریع و دسترسی آسان در سطح شهر و سفرهای بین‌شهری اهمیت بالایی دارد.</a:t>
            </a:r>
            <a:endParaRPr lang="fa-IR" sz="1200" dirty="0"/>
          </a:p>
        </p:txBody>
      </p:sp>
      <p:sp>
        <p:nvSpPr>
          <p:cNvPr id="16" name="Shape 12"/>
          <p:cNvSpPr/>
          <p:nvPr/>
        </p:nvSpPr>
        <p:spPr>
          <a:xfrm>
            <a:off x="8092440" y="2304288"/>
            <a:ext cx="3593592" cy="3794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972800" y="2624328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7956" y="272948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08152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مدت زمان شارژ</a:t>
            </a:r>
            <a:endParaRPr lang="fa-IR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511296"/>
            <a:ext cx="3044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سرعت شارژ و زمان توقف از دغدغه‌های اصلی کاربران است که در انتخاب مکان‌های تجاری تأثیر مستقیم دارد.</a:t>
            </a:r>
            <a:endParaRPr lang="fa-IR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4245" r="24245" t="0" b="0"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09160" y="0"/>
            <a:ext cx="13716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329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ارزش‌آفرینی در سفر</a:t>
            </a:r>
            <a:endParaRPr lang="fa-IR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7315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5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تبدیل توقف اجباری به فرصت تجاری</a:t>
            </a:r>
            <a:endParaRPr lang="fa-IR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چرا ترکیب خرید و شارژ خودرو راهکار برنده است</a:t>
            </a:r>
            <a:endParaRPr lang="fa-IR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03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Kindel Media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66360" y="3291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معماری زیرساخت</a:t>
            </a:r>
            <a:endParaRPr lang="fa-IR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166360" y="7315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ابعاد کلیدی توسعه زیرساخت مقصد</a:t>
            </a:r>
            <a:endParaRPr lang="fa-IR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572768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عوامل مؤثر بر موفقیت ایستگاه‌های شارژ در مراکز خرید</a:t>
            </a:r>
            <a:endParaRPr lang="fa-IR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5490972" cy="17967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80660" y="262432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5816" y="2729484"/>
            <a:ext cx="246888" cy="2468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81528"/>
            <a:ext cx="49423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بهینه‌سازی شبکه</a:t>
            </a:r>
            <a:endParaRPr lang="fa-IR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11296"/>
            <a:ext cx="49423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جلوگیری از ایجاد دارایی‌های راکد با انتخاب استانداردهای باز و غیرانحصاری.</a:t>
            </a:r>
            <a:endParaRPr lang="fa-IR" sz="1050" dirty="0"/>
          </a:p>
        </p:txBody>
      </p:sp>
      <p:sp>
        <p:nvSpPr>
          <p:cNvPr id="11" name="Shape 8"/>
          <p:cNvSpPr/>
          <p:nvPr/>
        </p:nvSpPr>
        <p:spPr>
          <a:xfrm>
            <a:off x="6195060" y="2304288"/>
            <a:ext cx="5490972" cy="17967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0" y="26243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7956" y="272948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69380" y="3081528"/>
            <a:ext cx="49423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طراحی ماژولار</a:t>
            </a:r>
            <a:endParaRPr lang="fa-IR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69380" y="3511296"/>
            <a:ext cx="49423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قابلیت ارتقای تجهیزات و شبکه‌های ارتباطی برای پاسخگویی به تقاضای رو به رشد آینده.</a:t>
            </a:r>
            <a:endParaRPr lang="fa-IR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4302252"/>
            <a:ext cx="5490972" cy="17967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80660" y="4622292"/>
            <a:ext cx="457200" cy="45720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5816" y="4727448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" y="5079492"/>
            <a:ext cx="49423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امنیت سایبری</a:t>
            </a:r>
            <a:endParaRPr lang="fa-IR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509260"/>
            <a:ext cx="49423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حفاظت از لایه‌های ارتباطی و داده‌های کاربران در اکوسیستم شارژ هوشمند.</a:t>
            </a:r>
            <a:endParaRPr lang="fa-IR" sz="1050" dirty="0"/>
          </a:p>
        </p:txBody>
      </p:sp>
      <p:sp>
        <p:nvSpPr>
          <p:cNvPr id="21" name="Shape 16"/>
          <p:cNvSpPr/>
          <p:nvPr/>
        </p:nvSpPr>
        <p:spPr>
          <a:xfrm>
            <a:off x="6195060" y="4302252"/>
            <a:ext cx="5490972" cy="17967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972800" y="46222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77956" y="4727448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69380" y="5079492"/>
            <a:ext cx="49423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3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مدیریت هوشمند بار</a:t>
            </a:r>
            <a:endParaRPr lang="fa-IR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469380" y="5509260"/>
            <a:ext cx="49423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توازن مصرف انرژی و کمک به پایداری شبکه برق در ساعات اوج مصرف.</a:t>
            </a:r>
            <a:endParaRPr lang="fa-IR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04</a:t>
            </a:r>
            <a:endParaRPr lang="en-US" sz="750" dirty="0"/>
          </a:p>
        </p:txBody>
      </p:sp>
      <p:sp>
        <p:nvSpPr>
          <p:cNvPr id="27" name="Text 21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37760" y="329184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سفر مشتری</a:t>
            </a:r>
            <a:endParaRPr lang="fa-IR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73152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مسیر تجربه راننده از ورود تا خروج</a:t>
            </a:r>
            <a:endParaRPr lang="fa-IR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64592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گام‌های یک توقف بهینه در فروشگاه مجهز به شارژ سریع</a:t>
            </a:r>
            <a:endParaRPr lang="fa-IR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3703320"/>
            <a:ext cx="10634472" cy="0"/>
          </a:xfrm>
          <a:prstGeom prst="line">
            <a:avLst/>
          </a:prstGeom>
          <a:noFill/>
          <a:ln w="22860">
            <a:solidFill>
              <a:srgbClr val="E9EEF5">
                <a:alpha val="80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76072" y="3502152"/>
            <a:ext cx="402336" cy="40233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267712"/>
            <a:ext cx="20574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774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950" b="1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۰1</a:t>
            </a:r>
            <a:endParaRPr lang="fa-IR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426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05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آغاز ادامه سفر</a:t>
            </a:r>
            <a:endParaRPr lang="fa-IR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900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با خودروی کاملاً شارژ شده و بدون اتلاف وقت، سفر با خیال آسوده ادامه می‌یابد.</a:t>
            </a:r>
            <a:endParaRPr lang="fa-IR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547872"/>
            <a:ext cx="0" cy="-45720"/>
          </a:xfrm>
          <a:prstGeom prst="line">
            <a:avLst/>
          </a:prstGeom>
          <a:noFill/>
          <a:ln w="10160">
            <a:solidFill>
              <a:srgbClr val="E9EEF5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20896" y="35021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7936" y="4069080"/>
            <a:ext cx="20574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3384" y="4178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950" b="1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۰2</a:t>
            </a:r>
            <a:endParaRPr lang="fa-IR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53384" y="4443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05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خرید و بهره‌وری از زمان</a:t>
            </a:r>
            <a:endParaRPr lang="fa-IR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53384" y="479145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در حالی که خودرو شارژ می‌شود، راننده به خرید و انجام امور شخصی می‌پردازد.</a:t>
            </a:r>
            <a:endParaRPr lang="fa-IR" sz="1050" dirty="0"/>
          </a:p>
        </p:txBody>
      </p:sp>
      <p:sp>
        <p:nvSpPr>
          <p:cNvPr id="18" name="Shape 16"/>
          <p:cNvSpPr/>
          <p:nvPr/>
        </p:nvSpPr>
        <p:spPr>
          <a:xfrm>
            <a:off x="4322064" y="3904488"/>
            <a:ext cx="0" cy="164592"/>
          </a:xfrm>
          <a:prstGeom prst="line">
            <a:avLst/>
          </a:prstGeom>
          <a:noFill/>
          <a:ln w="10160">
            <a:solidFill>
              <a:srgbClr val="E9EEF5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665720" y="3502152"/>
            <a:ext cx="402336" cy="40233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2760" y="2267712"/>
            <a:ext cx="20574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8208" y="23774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950" b="1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۰3</a:t>
            </a:r>
            <a:endParaRPr lang="fa-IR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998208" y="26426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05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اتصال خودکار و امن</a:t>
            </a:r>
            <a:endParaRPr lang="fa-IR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998208" y="29900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خودرو به سادگی و با پروتکل‌های ارتباطی امن به دستگاه شارژ متصل می‌شود.</a:t>
            </a:r>
            <a:endParaRPr lang="fa-IR" sz="1050" dirty="0"/>
          </a:p>
        </p:txBody>
      </p:sp>
      <p:sp>
        <p:nvSpPr>
          <p:cNvPr id="24" name="Shape 22"/>
          <p:cNvSpPr/>
          <p:nvPr/>
        </p:nvSpPr>
        <p:spPr>
          <a:xfrm>
            <a:off x="7866888" y="3547872"/>
            <a:ext cx="0" cy="-45720"/>
          </a:xfrm>
          <a:prstGeom prst="line">
            <a:avLst/>
          </a:prstGeom>
          <a:noFill/>
          <a:ln w="10160">
            <a:solidFill>
              <a:srgbClr val="E9EEF5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10544" y="3502152"/>
            <a:ext cx="402336" cy="40233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9800" y="4069080"/>
            <a:ext cx="20574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0" y="417880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950" b="1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۰4</a:t>
            </a:r>
            <a:endParaRPr lang="fa-IR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4443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05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یافتن ایستگاه مقصد</a:t>
            </a:r>
            <a:endParaRPr lang="fa-IR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479145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0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راننده پیش از سفر یا در طول مسیر، مکان‌های مجهز به شارژ سریع در مراکز خرید را شناسایی می‌کند.</a:t>
            </a:r>
            <a:endParaRPr lang="fa-IR" sz="1050" dirty="0"/>
          </a:p>
        </p:txBody>
      </p:sp>
      <p:sp>
        <p:nvSpPr>
          <p:cNvPr id="30" name="Shape 28"/>
          <p:cNvSpPr/>
          <p:nvPr/>
        </p:nvSpPr>
        <p:spPr>
          <a:xfrm>
            <a:off x="11411712" y="3904488"/>
            <a:ext cx="0" cy="164592"/>
          </a:xfrm>
          <a:prstGeom prst="line">
            <a:avLst/>
          </a:prstGeom>
          <a:noFill/>
          <a:ln w="10160">
            <a:solidFill>
              <a:srgbClr val="E9EEF5">
                <a:alpha val="7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05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4245" r="24245" t="0" b="0"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09160" y="0"/>
            <a:ext cx="13716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329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تجربه جهانی</a:t>
            </a:r>
            <a:endParaRPr lang="fa-IR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7315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5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نمونه موردی: شارژ مقصدی تسلا</a:t>
            </a:r>
            <a:endParaRPr lang="fa-IR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تجربیات جهانی در ادغام زیرساخت شارژ با مراکز رفاهی و تجاری</a:t>
            </a:r>
            <a:endParaRPr lang="fa-IR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06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Kindel Media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7099" r="27099" t="0" b="0"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F172A">
              <a:alpha val="2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09160" y="0"/>
            <a:ext cx="13716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329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ارزش اقتصادی</a:t>
            </a:r>
            <a:endParaRPr lang="fa-IR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7315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مزایای اقتصادی و شبکه‌ای شارژ هوشمند</a:t>
            </a:r>
            <a:endParaRPr lang="fa-IR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نقش مراکز تجاری در پایداری شبکه و کاهش هزینه‌ها</a:t>
            </a:r>
            <a:endParaRPr lang="fa-IR" sz="1250" dirty="0"/>
          </a:p>
        </p:txBody>
      </p:sp>
      <p:sp>
        <p:nvSpPr>
          <p:cNvPr id="9" name="Shape 6"/>
          <p:cNvSpPr/>
          <p:nvPr/>
        </p:nvSpPr>
        <p:spPr>
          <a:xfrm>
            <a:off x="10771632" y="257860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7304" y="2694280"/>
            <a:ext cx="271577" cy="27157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افزایش ارزش اقتصادی</a:t>
            </a:r>
            <a:endParaRPr lang="fa-IR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2834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کاهش هزینه‌های استقرار زیرساخت و ارائه خدمات بهینه به مشتریان فروشگاه‌ها.</a:t>
            </a:r>
            <a:endParaRPr lang="fa-IR" sz="1150" dirty="0"/>
          </a:p>
        </p:txBody>
      </p:sp>
      <p:sp>
        <p:nvSpPr>
          <p:cNvPr id="13" name="Shape 9"/>
          <p:cNvSpPr/>
          <p:nvPr/>
        </p:nvSpPr>
        <p:spPr>
          <a:xfrm>
            <a:off x="10771632" y="341985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7304" y="3535528"/>
            <a:ext cx="271577" cy="2715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43800" y="3401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جلوگیری از دارایی‌های راکد</a:t>
            </a:r>
            <a:endParaRPr lang="fa-IR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0" y="36758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پرهیز از وابستگی به شبکه‌های انحصاری و تضمین به‌روزرسانی تجهیزات.</a:t>
            </a:r>
            <a:endParaRPr lang="fa-IR" sz="1150" dirty="0"/>
          </a:p>
        </p:txBody>
      </p:sp>
      <p:sp>
        <p:nvSpPr>
          <p:cNvPr id="17" name="Shape 12"/>
          <p:cNvSpPr/>
          <p:nvPr/>
        </p:nvSpPr>
        <p:spPr>
          <a:xfrm>
            <a:off x="10771632" y="4261104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87304" y="4376776"/>
            <a:ext cx="271577" cy="27157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543800" y="424281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rgbClr val="1E293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انعطاف‌پذیری شبکه برق</a:t>
            </a:r>
            <a:endParaRPr lang="fa-IR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0" y="451713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هماهنگی شارژ خودروها با الگوهای مصرف شبکه و بهره‌گیری از انرژی‌های پاک.</a:t>
            </a:r>
            <a:endParaRPr lang="fa-IR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07</a:t>
            </a:r>
            <a:endParaRPr lang="en-US" sz="750" dirty="0"/>
          </a:p>
        </p:txBody>
      </p:sp>
      <p:sp>
        <p:nvSpPr>
          <p:cNvPr id="22" name="Text 16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  <p:sp>
        <p:nvSpPr>
          <p:cNvPr id="24" name="Text 18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64748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panumas nikhomkhai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5074920"/>
            <a:ext cx="1508760" cy="150876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109728"/>
            <a:ext cx="1417320" cy="141732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0" y="3291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050" b="1" spc="50" kern="0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جمع‌بندی و اقدام</a:t>
            </a:r>
            <a:endParaRPr lang="fa-IR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6858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700" b="1" dirty="0">
                <a:solidFill>
                  <a:srgbClr val="F8FAFC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چشم‌انداز آینده سفر با خودروی برقی</a:t>
            </a:r>
            <a:endParaRPr lang="fa-IR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84708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50" dirty="0">
                <a:solidFill>
                  <a:srgbClr val="CBD5E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گام‌های بعدی برای فراگیر شدن شارژ مفید در مراکز تجاری</a:t>
            </a:r>
            <a:endParaRPr lang="fa-IR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5372100" cy="2331720"/>
          </a:xfrm>
          <a:prstGeom prst="roundRect">
            <a:avLst/>
          </a:prstGeom>
          <a:solidFill>
            <a:srgbClr val="151F31"/>
          </a:solidFill>
          <a:ln w="8890">
            <a:solidFill>
              <a:srgbClr val="10B981">
                <a:alpha val="6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10B98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72100" y="299923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3657600"/>
            <a:ext cx="4914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یکپارچه‌سازی خدمات</a:t>
            </a:r>
            <a:endParaRPr lang="fa-IR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33088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50" dirty="0">
                <a:solidFill>
                  <a:srgbClr val="B8C3D4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توسعه روش‌های پرداخت واحد و دسترسی آسان به وضعیت شارژ از طریق اپلیکیشن‌ها.</a:t>
            </a:r>
            <a:endParaRPr lang="fa-IR" sz="1050" dirty="0"/>
          </a:p>
        </p:txBody>
      </p:sp>
      <p:sp>
        <p:nvSpPr>
          <p:cNvPr id="13" name="Shape 10"/>
          <p:cNvSpPr/>
          <p:nvPr/>
        </p:nvSpPr>
        <p:spPr>
          <a:xfrm>
            <a:off x="6195060" y="2788920"/>
            <a:ext cx="5372100" cy="2331720"/>
          </a:xfrm>
          <a:prstGeom prst="roundRect">
            <a:avLst/>
          </a:prstGeom>
          <a:solidFill>
            <a:srgbClr val="151F31"/>
          </a:solidFill>
          <a:ln w="889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96228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59E0B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2800" y="299923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23660" y="3657600"/>
            <a:ext cx="49149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rgbClr val="FFFFFF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گسترش ایستگاه‌های مقصد</a:t>
            </a:r>
            <a:endParaRPr lang="fa-IR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23660" y="4133088"/>
            <a:ext cx="4914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50" dirty="0">
                <a:solidFill>
                  <a:srgbClr val="B8C3D4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افزایش تعداد شارژرهای سریع در تمامی مراکز خرید و تفریحی.</a:t>
            </a:r>
            <a:endParaRPr lang="fa-IR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  <p:sp>
        <p:nvSpPr>
          <p:cNvPr id="19" name="Text 15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/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Kalameh" pitchFamily="34" charset="0"/>
                <a:ea typeface="Kalameh" pitchFamily="34" charset="-122"/>
                <a:cs typeface="Kalameh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alameh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Kalameh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 generator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تبدیل زمان شارژ خودرو برقی به زمان مفید سفر</dc:title>
  <dc:subject>راهکاری نوین برای بهره‌وری از توقف‌های فروشگاهی و توسعه زیرساخت‌های مقصد</dc:subject>
  <dc:creator>SourceLens</dc:creator>
  <cp:lastModifiedBy>SourceLens</cp:lastModifiedBy>
  <cp:revision>1</cp:revision>
  <dcterms:created xsi:type="dcterms:W3CDTF">2026-08-09T20:11:41Z</dcterms:created>
  <dcterms:modified xsi:type="dcterms:W3CDTF">2026-08-09T20:11:41Z</dcterms:modified>
</cp:coreProperties>
</file>