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زمان شارژ برای ۸۰٪ باتری (دقیقه)</c:v>
                </c:pt>
              </c:strCache>
            </c:strRef>
          </c:tx>
          <c:spPr>
            <a:solidFill>
              <a:srgbClr val="FFD1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شارژ سریع (DC)</c:v>
                  </c:pt>
                  <c:pt idx="1">
                    <c:v>شارژ نیمه‌سریع</c:v>
                  </c:pt>
                  <c:pt idx="2">
                    <c:v>شارژ معمولی (AC)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60</c:v>
                </c:pt>
                <c:pt idx="2">
                  <c:v>180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زمان پارکینگ متوسط در فروشگاه (دقیق…</c:v>
                </c:pt>
              </c:strCache>
            </c:strRef>
          </c:tx>
          <c:spPr>
            <a:solidFill>
              <a:srgbClr val="EF476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شارژ سریع (DC)</c:v>
                  </c:pt>
                  <c:pt idx="1">
                    <c:v>شارژ نیمه‌سریع</c:v>
                  </c:pt>
                  <c:pt idx="2">
                    <c:v>شارژ معمولی (AC)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90</c:v>
                </c:pt>
                <c:pt idx="1">
                  <c:v>90</c:v>
                </c:pt>
                <c:pt idx="2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A0A0A0"/>
                </a:solidFill>
                <a:latin typeface="Kalameh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A0A0A0"/>
                </a:solidFill>
                <a:latin typeface="Kalameh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Kalameh"/>
              <a:cs typeface="Kalameh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[S3]
- Image: https://www.pexels.com/photo/garage-place-for-electric-car-20589759/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[S3]
- [S4]
- Image: https://www.pexels.com/photo/electric-car-charging-at-station-with-multiple-chargers-37576187/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[S3]
- [S9]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[S3]
- [S2]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[S8]
- [S2]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[S3]
- [S6]
- Image: https://www.pexels.com/photo/ev-charger-in-california-usa-9800004/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[S2]
- [S3]
- [S8]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[S2]
- [S3]
- [S8]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MASTER">
    <p:bg>
      <p:bgPr>
        <a:solidFill>
          <a:srgbClr val="0F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7834" b="7834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>
              <a:alpha val="72000"/>
            </a:srgbClr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675120" y="0"/>
            <a:ext cx="5513832" cy="6858000"/>
          </a:xfrm>
          <a:prstGeom prst="rect">
            <a:avLst/>
          </a:prstGeom>
          <a:solidFill>
            <a:srgbClr val="07111F">
              <a:alpha val="82000"/>
            </a:srgbClr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378440" y="109728"/>
            <a:ext cx="1554480" cy="1554480"/>
          </a:xfrm>
          <a:prstGeom prst="ellipse">
            <a:avLst/>
          </a:prstGeom>
          <a:solidFill>
            <a:srgbClr val="EF476F">
              <a:alpha val="30000"/>
            </a:srgbClr>
          </a:solidFill>
          <a:ln w="12700">
            <a:solidFill>
              <a:srgbClr val="EF476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086600" y="914400"/>
            <a:ext cx="109728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60920" y="859536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EF476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298448"/>
            <a:ext cx="4572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fa-IR" altLang="en-US" sz="32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شارژ سریع در فروشگاه‌ها: توقف خرید، فرصتی برای شارژ</a:t>
            </a:r>
            <a:endParaRPr lang="fa-IR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3511296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fa-IR" altLang="en-US" sz="1400" dirty="0">
                <a:solidFill>
                  <a:srgbClr val="E2E8F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چگونه زیرساخت‌های هوشمند، سفرهای برقی را آسان‌تر می‌کنند</a:t>
            </a:r>
            <a:endParaRPr lang="fa-IR" sz="1400" dirty="0"/>
          </a:p>
        </p:txBody>
      </p:sp>
      <p:sp>
        <p:nvSpPr>
          <p:cNvPr id="10" name="Shape 7"/>
          <p:cNvSpPr/>
          <p:nvPr/>
        </p:nvSpPr>
        <p:spPr>
          <a:xfrm>
            <a:off x="10863072" y="4855464"/>
            <a:ext cx="566928" cy="0"/>
          </a:xfrm>
          <a:prstGeom prst="line">
            <a:avLst/>
          </a:prstGeom>
          <a:noFill/>
          <a:ln w="27940">
            <a:solidFill>
              <a:srgbClr val="FFD166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 txBox="1"/>
          <p:nvPr/>
        </p:nvSpPr>
        <p:spPr>
          <a:xfrm>
            <a:off x="7086600" y="4892040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altLang="en-US" sz="115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SourceLens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5202936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altLang="en-US" sz="1050" dirty="0">
                <a:solidFill>
                  <a:srgbClr val="CBD5E1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Open Research Demo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E2E8F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01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E2E8F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/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E2E8F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08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6473952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620" dirty="0">
                <a:solidFill>
                  <a:srgbClr val="E2E8F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Jakub Zerdzicki</a:t>
            </a:r>
            <a:endParaRPr lang="en-US" sz="6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24245" r="24245" t="0" b="0"/>
          <a:stretch/>
        </p:blipFill>
        <p:spPr>
          <a:xfrm>
            <a:off x="0" y="0"/>
            <a:ext cx="47091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1A5F7A">
              <a:alpha val="22000"/>
            </a:srgbClr>
          </a:solidFill>
          <a:ln w="12700">
            <a:solidFill>
              <a:srgbClr val="1A5F7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709160" y="0"/>
            <a:ext cx="137160" cy="68580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457432" y="347472"/>
            <a:ext cx="155448" cy="31089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0" y="3291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050" b="1" spc="50" kern="0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افزایش اعتماد رانندگان به خودروهای…</a:t>
            </a:r>
            <a:endParaRPr lang="fa-IR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731520"/>
            <a:ext cx="6126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5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چرا شارژ سریع در فروشگاه‌ها مهم است؟</a:t>
            </a:r>
            <a:endParaRPr lang="fa-IR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02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/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08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9326880" y="6473952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62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Giant Asparagus</a:t>
            </a:r>
            <a:endParaRPr lang="en-US" sz="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03152" y="347472"/>
            <a:ext cx="155448" cy="31089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54880" y="329184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50" b="1" spc="50" kern="0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754880" y="731520"/>
            <a:ext cx="6903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4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زمان شارژ در مقابل زمان پارکینگ</a:t>
            </a:r>
            <a:endParaRPr lang="fa-IR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331720"/>
            <a:ext cx="7543800" cy="3657600"/>
          </a:xfrm>
          <a:prstGeom prst="roundRect">
            <a:avLst/>
          </a:prstGeom>
          <a:solidFill>
            <a:srgbClr val="1A1A2E"/>
          </a:solidFill>
          <a:ln w="8890">
            <a:solidFill>
              <a:srgbClr val="E9EEF5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3970" dir="2700000">
              <a:srgbClr val="000000">
                <a:alpha val="16000"/>
              </a:srgbClr>
            </a:outerShdw>
          </a:effectLst>
        </p:spPr>
      </p:sp>
      <p:graphicFrame>
        <p:nvGraphicFramePr>
          <p:cNvPr id="6" name="Chart 0" descr=""/>
          <p:cNvGraphicFramePr/>
          <p:nvPr/>
        </p:nvGraphicFramePr>
        <p:xfrm>
          <a:off x="713232" y="2971800"/>
          <a:ext cx="704088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03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/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5F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03152" y="347472"/>
            <a:ext cx="155448" cy="31089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329184"/>
            <a:ext cx="6812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50" b="1" spc="50" kern="0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04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7315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300" b="1" dirty="0">
                <a:solidFill>
                  <a:srgbClr val="F8FAFC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مزایای شارژ در فروشگاه‌ها</a:t>
            </a:r>
            <a:endParaRPr lang="fa-IR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2395728"/>
            <a:ext cx="5349240" cy="3611880"/>
          </a:xfrm>
          <a:prstGeom prst="roundRect">
            <a:avLst/>
          </a:prstGeom>
          <a:solidFill>
            <a:srgbClr val="172033"/>
          </a:solidFill>
          <a:ln w="8890">
            <a:solidFill>
              <a:srgbClr val="475569">
                <a:alpha val="6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6968" y="2651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500" b="1" dirty="0">
                <a:solidFill>
                  <a:srgbClr val="CBD5E1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برای رانندگان</a:t>
            </a:r>
            <a:endParaRPr lang="fa-IR" sz="15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57216" y="3227832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75688" y="319125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05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کاهش نگرانی از تمام شدن باتری</a:t>
            </a:r>
            <a:endParaRPr lang="fa-IR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3465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050" dirty="0">
                <a:solidFill>
                  <a:srgbClr val="B8C3D4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دسترسی به شارژ سریع در مسیرها و مراکز خرید، اعتماد به سفرهای طولانی را افزایش می‌دهد.</a:t>
            </a:r>
            <a:endParaRPr lang="fa-IR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7216" y="39776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75688" y="394106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05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بهینه‌سازی زمان</a:t>
            </a:r>
            <a:endParaRPr lang="fa-IR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32688" y="42153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050" dirty="0">
                <a:solidFill>
                  <a:srgbClr val="B8C3D4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شارژ در حین خرید، زمان توقف را به زمان مفید تبدیل می‌کند.</a:t>
            </a:r>
            <a:endParaRPr lang="fa-IR" sz="1050" dirty="0"/>
          </a:p>
        </p:txBody>
      </p:sp>
      <p:sp>
        <p:nvSpPr>
          <p:cNvPr id="13" name="Shape 9"/>
          <p:cNvSpPr/>
          <p:nvPr/>
        </p:nvSpPr>
        <p:spPr>
          <a:xfrm>
            <a:off x="6272784" y="2395728"/>
            <a:ext cx="5349240" cy="3611880"/>
          </a:xfrm>
          <a:prstGeom prst="roundRect">
            <a:avLst/>
          </a:prstGeom>
          <a:solidFill>
            <a:srgbClr val="132D32"/>
          </a:solidFill>
          <a:ln w="8890">
            <a:solidFill>
              <a:srgbClr val="EF476F">
                <a:alpha val="6500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92824" y="2651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500" b="1" dirty="0">
                <a:solidFill>
                  <a:srgbClr val="EF476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برای فروشگاه‌ها</a:t>
            </a:r>
            <a:endParaRPr lang="fa-IR" sz="15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072" y="3227832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81544" y="319125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05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افزایش مدت حضور مشتریان</a:t>
            </a:r>
            <a:endParaRPr lang="fa-IR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6638544" y="3465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050" dirty="0">
                <a:solidFill>
                  <a:srgbClr val="B8C3D4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مشتریان برای شارژ خودرو، زمان بیشتری در فروشگاه می‌گذرانند.</a:t>
            </a:r>
            <a:endParaRPr lang="fa-IR" sz="10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63072" y="397764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781544" y="394106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05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جذب مشتریان جدید</a:t>
            </a:r>
            <a:endParaRPr lang="fa-IR" sz="1050" dirty="0"/>
          </a:p>
        </p:txBody>
      </p:sp>
      <p:sp>
        <p:nvSpPr>
          <p:cNvPr id="20" name="Text 14"/>
          <p:cNvSpPr txBox="1"/>
          <p:nvPr/>
        </p:nvSpPr>
        <p:spPr>
          <a:xfrm>
            <a:off x="6638544" y="42153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050" dirty="0">
                <a:solidFill>
                  <a:srgbClr val="B8C3D4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ارائه خدمات شارژ، مشتریان جدیدی را به فروشگاه جذب می‌کند.</a:t>
            </a:r>
            <a:endParaRPr lang="fa-IR" sz="1050" dirty="0"/>
          </a:p>
        </p:txBody>
      </p:sp>
      <p:sp>
        <p:nvSpPr>
          <p:cNvPr id="21" name="Shape 15"/>
          <p:cNvSpPr/>
          <p:nvPr/>
        </p:nvSpPr>
        <p:spPr>
          <a:xfrm>
            <a:off x="5824728" y="3767328"/>
            <a:ext cx="530352" cy="530352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3970" dir="27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5824728" y="3730752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0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↔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04</a:t>
            </a:r>
            <a:endParaRPr lang="en-US" sz="750" dirty="0"/>
          </a:p>
        </p:txBody>
      </p:sp>
      <p:sp>
        <p:nvSpPr>
          <p:cNvPr id="24" name="Text 18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/</a:t>
            </a:r>
            <a:endParaRPr lang="en-US" sz="750" dirty="0"/>
          </a:p>
        </p:txBody>
      </p:sp>
      <p:sp>
        <p:nvSpPr>
          <p:cNvPr id="25" name="Text 19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5F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03152" y="347472"/>
            <a:ext cx="155448" cy="31089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663440" y="329184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50" b="1" spc="50" kern="0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05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731520"/>
            <a:ext cx="6995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300" b="1" dirty="0">
                <a:solidFill>
                  <a:srgbClr val="F8FAFC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مراحل پیاده‌سازی شارژ سریع در فروشگاه‌ها</a:t>
            </a:r>
            <a:endParaRPr lang="fa-IR" sz="2300" dirty="0"/>
          </a:p>
        </p:txBody>
      </p:sp>
      <p:sp>
        <p:nvSpPr>
          <p:cNvPr id="5" name="Shape 3"/>
          <p:cNvSpPr/>
          <p:nvPr/>
        </p:nvSpPr>
        <p:spPr>
          <a:xfrm>
            <a:off x="530352" y="2788920"/>
            <a:ext cx="2674620" cy="2487168"/>
          </a:xfrm>
          <a:prstGeom prst="roundRect">
            <a:avLst/>
          </a:prstGeom>
          <a:solidFill>
            <a:srgbClr val="182035"/>
          </a:solidFill>
          <a:ln w="8890">
            <a:solidFill>
              <a:srgbClr val="FFD166">
                <a:alpha val="65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29718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01</a:t>
            </a:r>
            <a:endParaRPr lang="en-US" sz="12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8044" y="2990088"/>
            <a:ext cx="347472" cy="34747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3611880"/>
            <a:ext cx="2272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1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پایش و به‌روزرسانی</a:t>
            </a:r>
            <a:endParaRPr lang="fa-IR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14800"/>
            <a:ext cx="22722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050" dirty="0">
                <a:solidFill>
                  <a:srgbClr val="B9C4D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پایش عملکرد ایستگاه‌ها و به‌روزرسانی نرم‌افزاری برای بهبود کارایی.</a:t>
            </a:r>
            <a:endParaRPr lang="fa-IR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186684" y="3776472"/>
            <a:ext cx="256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500" b="1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←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351276" y="2788920"/>
            <a:ext cx="2674620" cy="2487168"/>
          </a:xfrm>
          <a:prstGeom prst="roundRect">
            <a:avLst/>
          </a:prstGeom>
          <a:solidFill>
            <a:srgbClr val="17283A"/>
          </a:solidFill>
          <a:ln w="8890">
            <a:solidFill>
              <a:srgbClr val="EF476F">
                <a:alpha val="6500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15868" y="29718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rgbClr val="EF476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02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58968" y="2990088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552444" y="3611880"/>
            <a:ext cx="2272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1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یکپارچه‌سازی با خدمات فروشگاه</a:t>
            </a:r>
            <a:endParaRPr lang="fa-IR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552444" y="4114800"/>
            <a:ext cx="22722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050" dirty="0">
                <a:solidFill>
                  <a:srgbClr val="B9C4D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ارائه تخفیف‌ها یا اطلاعات وضعیت شارژ به مشتریان.</a:t>
            </a:r>
            <a:endParaRPr lang="fa-IR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6007608" y="3776472"/>
            <a:ext cx="256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500" b="1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←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172200" y="2788920"/>
            <a:ext cx="2674620" cy="2487168"/>
          </a:xfrm>
          <a:prstGeom prst="roundRect">
            <a:avLst/>
          </a:prstGeom>
          <a:solidFill>
            <a:srgbClr val="182035"/>
          </a:solidFill>
          <a:ln w="8890">
            <a:solidFill>
              <a:srgbClr val="FFD166">
                <a:alpha val="6500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336792" y="29718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03</a:t>
            </a:r>
            <a:endParaRPr lang="en-US" sz="12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79892" y="2990088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73368" y="3611880"/>
            <a:ext cx="2272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1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نصب ایستگاه‌ها</a:t>
            </a:r>
            <a:endParaRPr lang="fa-IR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6373368" y="4114800"/>
            <a:ext cx="22722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050" dirty="0">
                <a:solidFill>
                  <a:srgbClr val="B9C4D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نصب ایستگاه‌های شارژ سریع با توان و سرعت مناسب.</a:t>
            </a:r>
            <a:endParaRPr lang="fa-IR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828532" y="3776472"/>
            <a:ext cx="256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500" b="1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←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8993124" y="2788920"/>
            <a:ext cx="2674620" cy="2487168"/>
          </a:xfrm>
          <a:prstGeom prst="roundRect">
            <a:avLst/>
          </a:prstGeom>
          <a:solidFill>
            <a:srgbClr val="17283A"/>
          </a:solidFill>
          <a:ln w="8890">
            <a:solidFill>
              <a:srgbClr val="EF476F">
                <a:alpha val="6500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157716" y="29718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200" b="1" dirty="0">
                <a:solidFill>
                  <a:srgbClr val="EF476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04</a:t>
            </a:r>
            <a:endParaRPr lang="en-US" sz="12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100816" y="2990088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194292" y="3611880"/>
            <a:ext cx="2272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1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برنامه‌ریزی مکان‌ها</a:t>
            </a:r>
            <a:endParaRPr lang="fa-IR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9194292" y="4114800"/>
            <a:ext cx="227228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050" dirty="0">
                <a:solidFill>
                  <a:srgbClr val="B9C4D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تعیین مکان‌های استراتژیک برای نصب ایستگاه‌های شارژ با همکاری برنامه‌ریزان شهری.</a:t>
            </a:r>
            <a:endParaRPr lang="fa-IR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05</a:t>
            </a:r>
            <a:endParaRPr lang="en-US" sz="750" dirty="0"/>
          </a:p>
        </p:txBody>
      </p:sp>
      <p:sp>
        <p:nvSpPr>
          <p:cNvPr id="29" name="Text 23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/</a:t>
            </a:r>
            <a:endParaRPr lang="en-US" sz="750" dirty="0"/>
          </a:p>
        </p:txBody>
      </p:sp>
      <p:sp>
        <p:nvSpPr>
          <p:cNvPr id="30" name="Text 24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24245" r="24245" t="0" b="0"/>
          <a:stretch/>
        </p:blipFill>
        <p:spPr>
          <a:xfrm>
            <a:off x="0" y="0"/>
            <a:ext cx="47091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1A5F7A">
              <a:alpha val="22000"/>
            </a:srgbClr>
          </a:solidFill>
          <a:ln w="12700">
            <a:solidFill>
              <a:srgbClr val="1A5F7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709160" y="0"/>
            <a:ext cx="137160" cy="68580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457432" y="347472"/>
            <a:ext cx="155448" cy="31089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0" y="3291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50" b="1" spc="50" kern="0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06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731520"/>
            <a:ext cx="6126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4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مطالعه موردی: شارژ سریع در مراکز خرید کالیفرنیا</a:t>
            </a:r>
            <a:endParaRPr lang="fa-IR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06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/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08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9326880" y="6473952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62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Kindel Media</a:t>
            </a:r>
            <a:endParaRPr lang="en-US" sz="6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03152" y="347472"/>
            <a:ext cx="155448" cy="31089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66360" y="329184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1050" b="1" spc="50" kern="0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07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166360" y="731520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4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نکات کلیدی برای ذینفعان</a:t>
            </a:r>
            <a:endParaRPr lang="fa-IR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304288"/>
            <a:ext cx="3593592" cy="3794760"/>
          </a:xfrm>
          <a:prstGeom prst="roundRect">
            <a:avLst/>
          </a:prstGeom>
          <a:solidFill>
            <a:srgbClr val="1A1A2E"/>
          </a:solidFill>
          <a:ln w="8890">
            <a:solidFill>
              <a:srgbClr val="DCE4EE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3970" dir="27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383280" y="2624328"/>
            <a:ext cx="457200" cy="45720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88436" y="2729484"/>
            <a:ext cx="246888" cy="24688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3081528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3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برنامه‌ریزان شهری</a:t>
            </a:r>
            <a:endParaRPr lang="fa-IR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11296"/>
            <a:ext cx="304495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20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زیرساخت‌های شارژ را در مکان‌های استراتژیک توسعه دهید و با فروشگاه‌ها همکاری کنید.</a:t>
            </a:r>
            <a:endParaRPr lang="fa-IR" sz="1200" dirty="0"/>
          </a:p>
        </p:txBody>
      </p:sp>
      <p:sp>
        <p:nvSpPr>
          <p:cNvPr id="10" name="Shape 7"/>
          <p:cNvSpPr/>
          <p:nvPr/>
        </p:nvSpPr>
        <p:spPr>
          <a:xfrm>
            <a:off x="4297680" y="2304288"/>
            <a:ext cx="3593592" cy="3794760"/>
          </a:xfrm>
          <a:prstGeom prst="roundRect">
            <a:avLst/>
          </a:prstGeom>
          <a:solidFill>
            <a:srgbClr val="1A1A2E"/>
          </a:solidFill>
          <a:ln w="8890">
            <a:solidFill>
              <a:srgbClr val="DCE4EE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3970" dir="27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178040" y="2624328"/>
            <a:ext cx="457200" cy="457200"/>
          </a:xfrm>
          <a:prstGeom prst="ellipse">
            <a:avLst/>
          </a:prstGeom>
          <a:solidFill>
            <a:srgbClr val="EF476F"/>
          </a:solidFill>
          <a:ln w="12700">
            <a:solidFill>
              <a:srgbClr val="EF476F">
                <a:alpha val="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83196" y="2729484"/>
            <a:ext cx="246888" cy="2468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3081528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3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فروشگاه‌ها</a:t>
            </a:r>
            <a:endParaRPr lang="fa-IR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511296"/>
            <a:ext cx="304495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20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با ارائه خدمات شارژ، مشتریان جدید جذب کنید و مدت حضور آن‌ها را افزایش دهید.</a:t>
            </a:r>
            <a:endParaRPr lang="fa-IR" sz="1200" dirty="0"/>
          </a:p>
        </p:txBody>
      </p:sp>
      <p:sp>
        <p:nvSpPr>
          <p:cNvPr id="15" name="Shape 11"/>
          <p:cNvSpPr/>
          <p:nvPr/>
        </p:nvSpPr>
        <p:spPr>
          <a:xfrm>
            <a:off x="8092440" y="2304288"/>
            <a:ext cx="3593592" cy="3794760"/>
          </a:xfrm>
          <a:prstGeom prst="roundRect">
            <a:avLst/>
          </a:prstGeom>
          <a:solidFill>
            <a:srgbClr val="1A1A2E"/>
          </a:solidFill>
          <a:ln w="8890">
            <a:solidFill>
              <a:srgbClr val="DCE4EE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3970" dir="27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0972800" y="2624328"/>
            <a:ext cx="457200" cy="457200"/>
          </a:xfrm>
          <a:prstGeom prst="ellipse">
            <a:avLst/>
          </a:prstGeom>
          <a:solidFill>
            <a:srgbClr val="57CC99"/>
          </a:solidFill>
          <a:ln w="12700">
            <a:solidFill>
              <a:srgbClr val="57CC99">
                <a:alpha val="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77956" y="2729484"/>
            <a:ext cx="246888" cy="24688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3081528"/>
            <a:ext cx="3044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3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رانندگان</a:t>
            </a:r>
            <a:endParaRPr lang="fa-IR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3511296"/>
            <a:ext cx="304495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120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از شارژ سریع در فروشگاه‌ها برای بهینه‌سازی زمان سفر استفاده کنید.</a:t>
            </a:r>
            <a:endParaRPr lang="fa-IR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07</a:t>
            </a:r>
            <a:endParaRPr lang="en-US" sz="750" dirty="0"/>
          </a:p>
        </p:txBody>
      </p:sp>
      <p:sp>
        <p:nvSpPr>
          <p:cNvPr id="21" name="Text 16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/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A0A0A0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5F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5074920"/>
            <a:ext cx="1508760" cy="1508760"/>
          </a:xfrm>
          <a:prstGeom prst="ellipse">
            <a:avLst/>
          </a:prstGeom>
          <a:solidFill>
            <a:srgbClr val="EF476F">
              <a:alpha val="25000"/>
            </a:srgbClr>
          </a:solidFill>
          <a:ln w="12700">
            <a:solidFill>
              <a:srgbClr val="EF476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109728"/>
            <a:ext cx="1417320" cy="1417320"/>
          </a:xfrm>
          <a:prstGeom prst="ellipse">
            <a:avLst/>
          </a:prstGeom>
          <a:solidFill>
            <a:srgbClr val="FFD166">
              <a:alpha val="28000"/>
            </a:srgbClr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57432" y="347472"/>
            <a:ext cx="155448" cy="31089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0" y="329184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050" b="1" spc="50" kern="0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همکاری برای موفقیت</a:t>
            </a:r>
            <a:endParaRPr lang="fa-IR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685800"/>
            <a:ext cx="7040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600" b="1" dirty="0">
                <a:solidFill>
                  <a:srgbClr val="F8FAFC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گام‌های بعدی برای آینده‌ای پایدارتر</a:t>
            </a:r>
            <a:endParaRPr lang="fa-IR" sz="2600" dirty="0"/>
          </a:p>
        </p:txBody>
      </p:sp>
      <p:sp>
        <p:nvSpPr>
          <p:cNvPr id="7" name="Shape 5"/>
          <p:cNvSpPr/>
          <p:nvPr/>
        </p:nvSpPr>
        <p:spPr>
          <a:xfrm>
            <a:off x="594360" y="2788920"/>
            <a:ext cx="3505200" cy="2331720"/>
          </a:xfrm>
          <a:prstGeom prst="roundRect">
            <a:avLst/>
          </a:prstGeom>
          <a:solidFill>
            <a:srgbClr val="151F31"/>
          </a:solidFill>
          <a:ln w="8890">
            <a:solidFill>
              <a:srgbClr val="FFD166">
                <a:alpha val="6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9718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03</a:t>
            </a:r>
            <a:endParaRPr lang="en-US" sz="16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05200" y="299923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3657600"/>
            <a:ext cx="304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2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سرمایه‌گذاری در زیرساخت‌های شارژ هوشمند و پایدار</a:t>
            </a:r>
            <a:endParaRPr lang="fa-IR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133088"/>
            <a:ext cx="304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28160" y="2788920"/>
            <a:ext cx="3505200" cy="2331720"/>
          </a:xfrm>
          <a:prstGeom prst="roundRect">
            <a:avLst/>
          </a:prstGeom>
          <a:solidFill>
            <a:srgbClr val="151F31"/>
          </a:solidFill>
          <a:ln w="8890">
            <a:solidFill>
              <a:srgbClr val="EF476F">
                <a:alpha val="6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9328" y="29718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EF476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02</a:t>
            </a:r>
            <a:endParaRPr lang="en-US" sz="16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39000" y="2999232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56760" y="3657600"/>
            <a:ext cx="304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2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همکاری فروشگاه‌ها با اپراتورهای شارژ برای ارائه خدمات بهتر</a:t>
            </a:r>
            <a:endParaRPr lang="fa-IR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556760" y="4133088"/>
            <a:ext cx="304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061960" y="2788920"/>
            <a:ext cx="3505200" cy="2331720"/>
          </a:xfrm>
          <a:prstGeom prst="roundRect">
            <a:avLst/>
          </a:prstGeom>
          <a:solidFill>
            <a:srgbClr val="151F31"/>
          </a:solidFill>
          <a:ln w="8890">
            <a:solidFill>
              <a:srgbClr val="FFD166">
                <a:alpha val="6500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63128" y="29718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altLang="en-US" sz="1600" b="1" dirty="0">
                <a:solidFill>
                  <a:srgbClr val="FFD166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01</a:t>
            </a:r>
            <a:endParaRPr lang="en-US" sz="16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2999232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290560" y="3657600"/>
            <a:ext cx="304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200" b="1" dirty="0">
                <a:solidFill>
                  <a:srgbClr val="FFFFFF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آموزش رانندگان در مورد مزایای شارژ سریع در فروشگاه‌ها</a:t>
            </a:r>
            <a:endParaRPr lang="fa-IR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290560" y="4133088"/>
            <a:ext cx="304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32004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08</a:t>
            </a:r>
            <a:endParaRPr lang="en-US" sz="750" dirty="0"/>
          </a:p>
        </p:txBody>
      </p:sp>
      <p:sp>
        <p:nvSpPr>
          <p:cNvPr id="23" name="Text 18"/>
          <p:cNvSpPr txBox="1"/>
          <p:nvPr/>
        </p:nvSpPr>
        <p:spPr>
          <a:xfrm>
            <a:off x="557784" y="6510528"/>
            <a:ext cx="128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/</a:t>
            </a:r>
            <a:endParaRPr lang="en-US" sz="750" dirty="0"/>
          </a:p>
        </p:txBody>
      </p:sp>
      <p:sp>
        <p:nvSpPr>
          <p:cNvPr id="24" name="Text 19"/>
          <p:cNvSpPr txBox="1"/>
          <p:nvPr/>
        </p:nvSpPr>
        <p:spPr>
          <a:xfrm>
            <a:off x="685800" y="6510528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50" dirty="0">
                <a:solidFill>
                  <a:srgbClr val="CBD5E1"/>
                </a:solidFill>
                <a:latin typeface="Kalameh" pitchFamily="34" charset="0"/>
                <a:ea typeface="Kalameh" pitchFamily="34" charset="-122"/>
                <a:cs typeface="Kalameh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Kalame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Kalameh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Local generator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تبدیل توقف خرید به زمان مفید: شارژ سریع خودروهای برقی در فروشگاه‌ها</dc:title>
  <dc:subject>چگونه رانندگان، فروشگاه‌ها و برنامه‌ریزان شهری می‌توانند از این فرصت بهره‌مند شوند</dc:subject>
  <dc:creator>SourceLens</dc:creator>
  <cp:lastModifiedBy>SourceLens</cp:lastModifiedBy>
  <cp:revision>1</cp:revision>
  <dcterms:created xsi:type="dcterms:W3CDTF">2026-08-09T14:31:43Z</dcterms:created>
  <dcterms:modified xsi:type="dcterms:W3CDTF">2026-08-09T14:31:43Z</dcterms:modified>
</cp:coreProperties>
</file>